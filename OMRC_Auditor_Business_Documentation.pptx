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075" y="842168"/>
            <a:ext cx="5040630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b="1">
                <a:latin typeface="Arial"/>
                <a:cs typeface="Arial"/>
              </a:rPr>
              <a:t>OMRC</a:t>
            </a:r>
            <a:r>
              <a:rPr dirty="0" sz="1950" spc="3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Risk-Based</a:t>
            </a:r>
            <a:r>
              <a:rPr dirty="0" sz="1950" spc="3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Sampling</a:t>
            </a:r>
            <a:r>
              <a:rPr dirty="0" sz="1950" spc="35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Methodology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1550" y="35147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37814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40481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43148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1550" y="45815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4848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91725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1550" y="94392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4075" y="1380331"/>
            <a:ext cx="5932805" cy="8155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Complete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Business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Documentation</a:t>
            </a:r>
            <a:r>
              <a:rPr dirty="0" sz="1150" spc="9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External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Auditors</a:t>
            </a:r>
            <a:r>
              <a:rPr dirty="0" sz="1150" spc="9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&amp;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Audit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Committee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Arial"/>
                <a:cs typeface="Arial"/>
              </a:rPr>
              <a:t>Version: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2.6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|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Date: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November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2025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|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Classification: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Internal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Committee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EXECUTIVE</a:t>
            </a:r>
            <a:r>
              <a:rPr dirty="0" sz="1150" spc="19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SUMMARY</a:t>
            </a:r>
            <a:endParaRPr sz="1150">
              <a:latin typeface="Arial"/>
              <a:cs typeface="Arial"/>
            </a:endParaRPr>
          </a:p>
          <a:p>
            <a:pPr marL="12700" marR="57150">
              <a:lnSpc>
                <a:spcPct val="125000"/>
              </a:lnSpc>
              <a:spcBef>
                <a:spcPts val="805"/>
              </a:spcBef>
            </a:pP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OMRC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Enhanced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Multi-</a:t>
            </a:r>
            <a:r>
              <a:rPr dirty="0" sz="1050">
                <a:latin typeface="Arial"/>
                <a:cs typeface="Arial"/>
              </a:rPr>
              <a:t>Dimensional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Methodology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provides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statistically </a:t>
            </a:r>
            <a:r>
              <a:rPr dirty="0" sz="1050">
                <a:latin typeface="Arial"/>
                <a:cs typeface="Arial"/>
              </a:rPr>
              <a:t>sound,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aware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approach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compliance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review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trade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surveillance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analysis.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latin typeface="Arial"/>
                <a:cs typeface="Arial"/>
              </a:rPr>
              <a:t>Compliance </a:t>
            </a:r>
            <a:r>
              <a:rPr dirty="0" sz="1050" spc="-10" b="1">
                <a:latin typeface="Arial"/>
                <a:cs typeface="Arial"/>
              </a:rPr>
              <a:t>Status: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 spc="-175">
                <a:latin typeface="Segoe UI Symbol"/>
                <a:cs typeface="Segoe UI Symbol"/>
              </a:rPr>
              <a:t>✅</a:t>
            </a:r>
            <a:r>
              <a:rPr dirty="0" sz="1050" spc="-45">
                <a:latin typeface="Segoe UI Symbol"/>
                <a:cs typeface="Segoe UI Symbol"/>
              </a:rPr>
              <a:t> </a:t>
            </a:r>
            <a:r>
              <a:rPr dirty="0" sz="1050" spc="-25">
                <a:latin typeface="Arial"/>
                <a:cs typeface="Arial"/>
              </a:rPr>
              <a:t>AICPA</a:t>
            </a:r>
            <a:r>
              <a:rPr dirty="0" sz="1050" spc="-1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AU-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Section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530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(Audit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Sampling)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10">
                <a:latin typeface="Arial"/>
                <a:cs typeface="Arial"/>
              </a:rPr>
              <a:t> Compliant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ISA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530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(International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Standard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Auditing)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Compliant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Statistically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rigorous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Neyman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Optimal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Allocation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weighted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prioritization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0">
                <a:latin typeface="Arial"/>
                <a:cs typeface="Arial"/>
              </a:rPr>
              <a:t> high-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exceptions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Complete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trail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reproducibility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10">
                <a:latin typeface="Arial"/>
                <a:cs typeface="Arial"/>
              </a:rPr>
              <a:t>Multi-</a:t>
            </a:r>
            <a:r>
              <a:rPr dirty="0" sz="1050">
                <a:latin typeface="Arial"/>
                <a:cs typeface="Arial"/>
              </a:rPr>
              <a:t>dimensional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stratification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reduces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bias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buAutoNum type="arabicPeriod"/>
              <a:tabLst>
                <a:tab pos="179705" algn="l"/>
              </a:tabLst>
            </a:pPr>
            <a:r>
              <a:rPr dirty="0" sz="1150" b="1">
                <a:latin typeface="Arial"/>
                <a:cs typeface="Arial"/>
              </a:rPr>
              <a:t>METHODOLOGY</a:t>
            </a:r>
            <a:r>
              <a:rPr dirty="0" sz="1150" spc="16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OVERVIEW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"/>
              <a:buAutoNum type="arabicPeriod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latin typeface="Arial"/>
                <a:cs typeface="Arial"/>
              </a:rPr>
              <a:t>Purpose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&amp;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Objectives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805"/>
              </a:spcBef>
            </a:pPr>
            <a:r>
              <a:rPr dirty="0" sz="1050" b="1">
                <a:latin typeface="Arial"/>
                <a:cs typeface="Arial"/>
              </a:rPr>
              <a:t>Primary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Purpose: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Provide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statistically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sound,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aware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large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populations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detailed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compliance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review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Key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Objectives: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Coverage: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Representative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across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identified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strata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Efficiency: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Minimize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size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while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maintaining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95%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confidence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Risk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Focus:</a:t>
            </a:r>
            <a:r>
              <a:rPr dirty="0" sz="1050" spc="-7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Automatically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prioritize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high-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exceptions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spc="-10" b="1">
                <a:latin typeface="Arial"/>
                <a:cs typeface="Arial"/>
              </a:rPr>
              <a:t>Transparency: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Auditable,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repeatable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processes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full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trail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Compliance: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Adherence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AICPA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ISA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standards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Scope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&amp;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Applicability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Applicable </a:t>
            </a:r>
            <a:r>
              <a:rPr dirty="0" sz="1050" spc="-25" b="1">
                <a:latin typeface="Arial"/>
                <a:cs typeface="Arial"/>
              </a:rPr>
              <a:t>to: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latin typeface="Arial"/>
                <a:cs typeface="Arial"/>
              </a:rPr>
              <a:t>Large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datasets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(1,000+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records)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Trade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exceptions,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model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variances,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pricing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discrepancies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66774" y="2305049"/>
          <a:ext cx="6115050" cy="2842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/>
                <a:gridCol w="3124200"/>
                <a:gridCol w="1590675"/>
              </a:tblGrid>
              <a:tr h="285115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Requirement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06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OMRC</a:t>
                      </a:r>
                      <a:r>
                        <a:rPr dirty="0" sz="8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Implementation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Evidence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Define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population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exceptions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period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complete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validation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Identify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sampling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unit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Individual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exception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record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(unique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ID)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Record-level</a:t>
                      </a:r>
                      <a:r>
                        <a:rPr dirty="0" sz="8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selection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Population</a:t>
                      </a:r>
                      <a:r>
                        <a:rPr dirty="0" sz="8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size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count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strata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breakdown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Reports: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total_strata.csv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Stratification</a:t>
                      </a:r>
                      <a:r>
                        <a:rPr dirty="0" sz="8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method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Multi-dimensional: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Entity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×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Region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×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×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Additional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Configurable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5">
                          <a:latin typeface="Arial"/>
                          <a:cs typeface="Arial"/>
                        </a:rPr>
                        <a:t>UI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marL="128270" marR="607060">
                        <a:lnSpc>
                          <a:spcPct val="125000"/>
                        </a:lnSpc>
                        <a:spcBef>
                          <a:spcPts val="270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Sample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size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calculation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Cochran's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formula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95%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confidence,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5%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margin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Sample_size_calculation.log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Selection</a:t>
                      </a:r>
                      <a:r>
                        <a:rPr dirty="0" sz="8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method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 marR="219710">
                        <a:lnSpc>
                          <a:spcPct val="125000"/>
                        </a:lnSpc>
                        <a:spcBef>
                          <a:spcPts val="270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Random within stratum (Traditional) or Risk-weighted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(Risk-Based)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Method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selection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UI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Results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evaluation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Exception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rate,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confidence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interval,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missed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strata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analysis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Coverage_Analysis.csv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Documentation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Complete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audit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trail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exported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sampling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run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Audit_Trail_YYYYMMDD.log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38274" y="6019799"/>
          <a:ext cx="4972050" cy="1967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375"/>
                <a:gridCol w="2476500"/>
                <a:gridCol w="552450"/>
              </a:tblGrid>
              <a:tr h="28511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Requirement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OMRC</a:t>
                      </a:r>
                      <a:r>
                        <a:rPr dirty="0" sz="8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Implementation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Status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8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representative</a:t>
                      </a:r>
                      <a:r>
                        <a:rPr dirty="0" sz="8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sample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Risk-based</a:t>
                      </a:r>
                      <a:r>
                        <a:rPr dirty="0" sz="8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stratification</a:t>
                      </a:r>
                      <a:r>
                        <a:rPr dirty="0" sz="8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ensures</a:t>
                      </a:r>
                      <a:r>
                        <a:rPr dirty="0" sz="80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representation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Assess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population</a:t>
                      </a:r>
                      <a:r>
                        <a:rPr dirty="0" sz="8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characteristics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8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stratification</a:t>
                      </a:r>
                      <a:r>
                        <a:rPr dirty="0" sz="80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analysis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Determine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size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statistically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Cochran's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formula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confidence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levels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Consider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sampling</a:t>
                      </a:r>
                      <a:r>
                        <a:rPr dirty="0" sz="8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risks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8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I/II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errors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documented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per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method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Multi-year</a:t>
                      </a:r>
                      <a:r>
                        <a:rPr dirty="0" sz="8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trending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Historical</a:t>
                      </a:r>
                      <a:r>
                        <a:rPr dirty="0" sz="8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sampling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maintained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Quantify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sampling</a:t>
                      </a:r>
                      <a:r>
                        <a:rPr dirty="0" sz="800" spc="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risk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Confidence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intervals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margin</a:t>
                      </a:r>
                      <a:r>
                        <a:rPr dirty="0" sz="8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calculations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1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Met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54075" y="5371305"/>
            <a:ext cx="2856865" cy="497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ISA 530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Compliance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>
                <a:latin typeface="Arial"/>
                <a:cs typeface="Arial"/>
              </a:rPr>
              <a:t>ISA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530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Requirement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→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OMRC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Implementation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1550" y="4667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733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4075" y="377825"/>
            <a:ext cx="4817110" cy="177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Arial"/>
                <a:cs typeface="Arial"/>
              </a:rPr>
              <a:t>Legal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Entity,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Region,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Product,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configurable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dimensions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Three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methods: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Traditional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Random,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Stratified,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Enhanced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Hybrid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2.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REGULATORY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COMPLIANCE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FRAMEWORK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AICPA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AU-C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Section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530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Compliance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 spc="-10">
                <a:latin typeface="Arial"/>
                <a:cs typeface="Arial"/>
              </a:rPr>
              <a:t>AU-</a:t>
            </a:r>
            <a:r>
              <a:rPr dirty="0" sz="1050">
                <a:latin typeface="Arial"/>
                <a:cs typeface="Arial"/>
              </a:rPr>
              <a:t>C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530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Requirement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→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OMRC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Implementation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Mapping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075" y="8343106"/>
            <a:ext cx="237617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3.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STATISTICAL</a:t>
            </a:r>
            <a:r>
              <a:rPr dirty="0" sz="1150" spc="-10" b="1">
                <a:latin typeface="Arial"/>
                <a:cs typeface="Arial"/>
              </a:rPr>
              <a:t> METHODOLOGY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62" y="1047749"/>
            <a:ext cx="6038850" cy="752475"/>
          </a:xfrm>
          <a:custGeom>
            <a:avLst/>
            <a:gdLst/>
            <a:ahLst/>
            <a:cxnLst/>
            <a:rect l="l" t="t" r="r" b="b"/>
            <a:pathLst>
              <a:path w="6038850" h="75247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78" y="19418"/>
                </a:lnTo>
                <a:lnTo>
                  <a:pt x="6022111" y="16751"/>
                </a:lnTo>
                <a:lnTo>
                  <a:pt x="6019457" y="14097"/>
                </a:lnTo>
                <a:lnTo>
                  <a:pt x="6016752" y="11391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91"/>
                </a:lnTo>
                <a:lnTo>
                  <a:pt x="19392" y="14097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695325"/>
                </a:lnTo>
                <a:lnTo>
                  <a:pt x="0" y="699084"/>
                </a:lnTo>
                <a:lnTo>
                  <a:pt x="0" y="702906"/>
                </a:lnTo>
                <a:lnTo>
                  <a:pt x="1460" y="710196"/>
                </a:lnTo>
                <a:lnTo>
                  <a:pt x="2908" y="713701"/>
                </a:lnTo>
                <a:lnTo>
                  <a:pt x="4356" y="717207"/>
                </a:lnTo>
                <a:lnTo>
                  <a:pt x="7251" y="724204"/>
                </a:lnTo>
                <a:lnTo>
                  <a:pt x="11391" y="730377"/>
                </a:lnTo>
                <a:lnTo>
                  <a:pt x="16738" y="735736"/>
                </a:lnTo>
                <a:lnTo>
                  <a:pt x="19392" y="738390"/>
                </a:lnTo>
                <a:lnTo>
                  <a:pt x="22098" y="741095"/>
                </a:lnTo>
                <a:lnTo>
                  <a:pt x="28282" y="745236"/>
                </a:lnTo>
                <a:lnTo>
                  <a:pt x="31800" y="746696"/>
                </a:lnTo>
                <a:lnTo>
                  <a:pt x="38747" y="749566"/>
                </a:lnTo>
                <a:lnTo>
                  <a:pt x="42291" y="751027"/>
                </a:lnTo>
                <a:lnTo>
                  <a:pt x="49580" y="752475"/>
                </a:lnTo>
                <a:lnTo>
                  <a:pt x="53403" y="752475"/>
                </a:lnTo>
                <a:lnTo>
                  <a:pt x="5985459" y="752475"/>
                </a:lnTo>
                <a:lnTo>
                  <a:pt x="5989282" y="752475"/>
                </a:lnTo>
                <a:lnTo>
                  <a:pt x="5996571" y="751027"/>
                </a:lnTo>
                <a:lnTo>
                  <a:pt x="6000064" y="749579"/>
                </a:lnTo>
                <a:lnTo>
                  <a:pt x="6003569" y="748131"/>
                </a:lnTo>
                <a:lnTo>
                  <a:pt x="6007036" y="746696"/>
                </a:lnTo>
                <a:lnTo>
                  <a:pt x="6010580" y="745236"/>
                </a:lnTo>
                <a:lnTo>
                  <a:pt x="6016752" y="741095"/>
                </a:lnTo>
                <a:lnTo>
                  <a:pt x="6019457" y="738390"/>
                </a:lnTo>
                <a:lnTo>
                  <a:pt x="6024765" y="733082"/>
                </a:lnTo>
                <a:lnTo>
                  <a:pt x="6027471" y="730377"/>
                </a:lnTo>
                <a:lnTo>
                  <a:pt x="6031598" y="724204"/>
                </a:lnTo>
                <a:lnTo>
                  <a:pt x="6033046" y="720712"/>
                </a:lnTo>
                <a:lnTo>
                  <a:pt x="6035941" y="713740"/>
                </a:lnTo>
                <a:lnTo>
                  <a:pt x="6037402" y="710196"/>
                </a:lnTo>
                <a:lnTo>
                  <a:pt x="6038850" y="702906"/>
                </a:lnTo>
                <a:lnTo>
                  <a:pt x="6038850" y="69908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6762" y="4248149"/>
            <a:ext cx="6038850" cy="923925"/>
          </a:xfrm>
          <a:custGeom>
            <a:avLst/>
            <a:gdLst/>
            <a:ahLst/>
            <a:cxnLst/>
            <a:rect l="l" t="t" r="r" b="b"/>
            <a:pathLst>
              <a:path w="6038850" h="92392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65" y="19392"/>
                </a:lnTo>
                <a:lnTo>
                  <a:pt x="6019457" y="14097"/>
                </a:lnTo>
                <a:lnTo>
                  <a:pt x="6016752" y="11379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79"/>
                </a:lnTo>
                <a:lnTo>
                  <a:pt x="19392" y="14097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866775"/>
                </a:lnTo>
                <a:lnTo>
                  <a:pt x="0" y="870534"/>
                </a:lnTo>
                <a:lnTo>
                  <a:pt x="0" y="874356"/>
                </a:lnTo>
                <a:lnTo>
                  <a:pt x="1460" y="881646"/>
                </a:lnTo>
                <a:lnTo>
                  <a:pt x="7251" y="895654"/>
                </a:lnTo>
                <a:lnTo>
                  <a:pt x="11391" y="901827"/>
                </a:lnTo>
                <a:lnTo>
                  <a:pt x="16738" y="907186"/>
                </a:lnTo>
                <a:lnTo>
                  <a:pt x="19392" y="909840"/>
                </a:lnTo>
                <a:lnTo>
                  <a:pt x="38785" y="921029"/>
                </a:lnTo>
                <a:lnTo>
                  <a:pt x="42291" y="922477"/>
                </a:lnTo>
                <a:lnTo>
                  <a:pt x="49580" y="923925"/>
                </a:lnTo>
                <a:lnTo>
                  <a:pt x="53403" y="923925"/>
                </a:lnTo>
                <a:lnTo>
                  <a:pt x="5985459" y="923925"/>
                </a:lnTo>
                <a:lnTo>
                  <a:pt x="5989282" y="923925"/>
                </a:lnTo>
                <a:lnTo>
                  <a:pt x="5996571" y="922477"/>
                </a:lnTo>
                <a:lnTo>
                  <a:pt x="6000064" y="921029"/>
                </a:lnTo>
                <a:lnTo>
                  <a:pt x="6001512" y="920432"/>
                </a:lnTo>
                <a:lnTo>
                  <a:pt x="6010580" y="916686"/>
                </a:lnTo>
                <a:lnTo>
                  <a:pt x="6016752" y="912545"/>
                </a:lnTo>
                <a:lnTo>
                  <a:pt x="6019457" y="909840"/>
                </a:lnTo>
                <a:lnTo>
                  <a:pt x="6024765" y="904532"/>
                </a:lnTo>
                <a:lnTo>
                  <a:pt x="6027471" y="901827"/>
                </a:lnTo>
                <a:lnTo>
                  <a:pt x="6031598" y="895654"/>
                </a:lnTo>
                <a:lnTo>
                  <a:pt x="6033046" y="892162"/>
                </a:lnTo>
                <a:lnTo>
                  <a:pt x="6035941" y="885177"/>
                </a:lnTo>
                <a:lnTo>
                  <a:pt x="6037402" y="881646"/>
                </a:lnTo>
                <a:lnTo>
                  <a:pt x="6038850" y="874356"/>
                </a:lnTo>
                <a:lnTo>
                  <a:pt x="6038850" y="87053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2333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26003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2867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1550" y="31337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34004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0" y="66960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0" y="69627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0" y="74961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0" y="77628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0" y="82962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0" y="85629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0" y="90963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0" y="93630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4075" y="389731"/>
            <a:ext cx="4398010" cy="9070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3.1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Sample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Size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Calculation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(Cochran's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Formula)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spc="-10" b="1">
                <a:latin typeface="Arial"/>
                <a:cs typeface="Arial"/>
              </a:rPr>
              <a:t>Formula: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</a:pP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>
                <a:latin typeface="Kozuka Gothic Pr6N R"/>
                <a:cs typeface="Kozuka Gothic Pr6N R"/>
              </a:rPr>
              <a:t>₀</a:t>
            </a:r>
            <a:r>
              <a:rPr dirty="0" sz="900" spc="330">
                <a:latin typeface="Kozuka Gothic Pr6N R"/>
                <a:cs typeface="Kozuka Gothic Pr6N R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(z²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p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q)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e²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</a:pP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>
                <a:latin typeface="Kozuka Gothic Pr6N R"/>
                <a:cs typeface="Kozuka Gothic Pr6N R"/>
              </a:rPr>
              <a:t>₀</a:t>
            </a:r>
            <a:r>
              <a:rPr dirty="0" sz="900" spc="335">
                <a:latin typeface="Kozuka Gothic Pr6N R"/>
                <a:cs typeface="Kozuka Gothic Pr6N R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3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(1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(n</a:t>
            </a:r>
            <a:r>
              <a:rPr dirty="0" sz="900" spc="-10">
                <a:latin typeface="Kozuka Gothic Pr6N R"/>
                <a:cs typeface="Kozuka Gothic Pr6N R"/>
              </a:rPr>
              <a:t>₀</a:t>
            </a:r>
            <a:r>
              <a:rPr dirty="0" sz="900" spc="-10">
                <a:latin typeface="Courier New"/>
                <a:cs typeface="Courier New"/>
              </a:rPr>
              <a:t>-</a:t>
            </a:r>
            <a:r>
              <a:rPr dirty="0" sz="900">
                <a:latin typeface="Courier New"/>
                <a:cs typeface="Courier New"/>
              </a:rPr>
              <a:t>1)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35">
                <a:latin typeface="Courier New"/>
                <a:cs typeface="Courier New"/>
              </a:rPr>
              <a:t> N)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Parameters:</a:t>
            </a:r>
            <a:endParaRPr sz="1050">
              <a:latin typeface="Arial"/>
              <a:cs typeface="Arial"/>
            </a:endParaRPr>
          </a:p>
          <a:p>
            <a:pPr marL="259715" marR="1935480">
              <a:lnSpc>
                <a:spcPct val="166700"/>
              </a:lnSpc>
              <a:spcBef>
                <a:spcPts val="525"/>
              </a:spcBef>
            </a:pPr>
            <a:r>
              <a:rPr dirty="0" sz="1050" spc="-10" b="1">
                <a:latin typeface="Arial"/>
                <a:cs typeface="Arial"/>
              </a:rPr>
              <a:t>z-</a:t>
            </a:r>
            <a:r>
              <a:rPr dirty="0" sz="1050" b="1">
                <a:latin typeface="Arial"/>
                <a:cs typeface="Arial"/>
              </a:rPr>
              <a:t>score: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1.96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(95%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confidence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level) </a:t>
            </a:r>
            <a:r>
              <a:rPr dirty="0" sz="1050" b="1">
                <a:latin typeface="Arial"/>
                <a:cs typeface="Arial"/>
              </a:rPr>
              <a:t>p: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Expected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error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rate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(0.15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15%) </a:t>
            </a:r>
            <a:r>
              <a:rPr dirty="0" sz="1050" b="1">
                <a:latin typeface="Arial"/>
                <a:cs typeface="Arial"/>
              </a:rPr>
              <a:t>q:</a:t>
            </a:r>
            <a:r>
              <a:rPr dirty="0" sz="1050" spc="-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(complement)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e: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Margin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error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(0.05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5%)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N: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Total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population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Example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Calculation: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population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183,823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exceptions: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050">
              <a:latin typeface="Arial"/>
              <a:cs typeface="Arial"/>
            </a:endParaRPr>
          </a:p>
          <a:p>
            <a:pPr marL="145415" marR="1792605">
              <a:lnSpc>
                <a:spcPct val="118100"/>
              </a:lnSpc>
            </a:pP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>
                <a:latin typeface="Kozuka Gothic Pr6N R"/>
                <a:cs typeface="Kozuka Gothic Pr6N R"/>
              </a:rPr>
              <a:t>₀</a:t>
            </a:r>
            <a:r>
              <a:rPr dirty="0" sz="900" spc="305">
                <a:latin typeface="Kozuka Gothic Pr6N R"/>
                <a:cs typeface="Kozuka Gothic Pr6N R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(1.96²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0.15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0.85)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(0.05²) </a:t>
            </a: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>
                <a:latin typeface="Kozuka Gothic Pr6N R"/>
                <a:cs typeface="Kozuka Gothic Pr6N R"/>
              </a:rPr>
              <a:t>₀</a:t>
            </a:r>
            <a:r>
              <a:rPr dirty="0" sz="900" spc="310">
                <a:latin typeface="Kozuka Gothic Pr6N R"/>
                <a:cs typeface="Kozuka Gothic Pr6N R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(3.8416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0.1275)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0.0025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196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</a:pP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196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(1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195/183,823)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196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Result: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196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samples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required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for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95%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confidence,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5%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margin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of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error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3.2</a:t>
            </a:r>
            <a:r>
              <a:rPr dirty="0" sz="1150" spc="1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Multi-Dimensional</a:t>
            </a:r>
            <a:r>
              <a:rPr dirty="0" sz="1150" spc="1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Stratification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Stratification </a:t>
            </a:r>
            <a:r>
              <a:rPr dirty="0" sz="1050" spc="-10" b="1">
                <a:latin typeface="Arial"/>
                <a:cs typeface="Arial"/>
              </a:rPr>
              <a:t>Structure: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079" indent="-147320">
              <a:lnSpc>
                <a:spcPct val="100000"/>
              </a:lnSpc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Legal Entity </a:t>
            </a:r>
            <a:r>
              <a:rPr dirty="0" sz="1050" spc="-10" b="1">
                <a:latin typeface="Arial"/>
                <a:cs typeface="Arial"/>
              </a:rPr>
              <a:t>(Mandatory)</a:t>
            </a:r>
            <a:endParaRPr sz="1050">
              <a:latin typeface="Arial"/>
              <a:cs typeface="Arial"/>
            </a:endParaRPr>
          </a:p>
          <a:p>
            <a:pPr marL="507365" marR="1472565">
              <a:lnSpc>
                <a:spcPct val="166700"/>
              </a:lnSpc>
            </a:pPr>
            <a:r>
              <a:rPr dirty="0" sz="1050">
                <a:latin typeface="Arial"/>
                <a:cs typeface="Arial"/>
              </a:rPr>
              <a:t>Segregates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organizational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unit </a:t>
            </a:r>
            <a:r>
              <a:rPr dirty="0" sz="1050">
                <a:latin typeface="Arial"/>
                <a:cs typeface="Arial"/>
              </a:rPr>
              <a:t>Ensures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entity-</a:t>
            </a:r>
            <a:r>
              <a:rPr dirty="0" sz="1050">
                <a:latin typeface="Arial"/>
                <a:cs typeface="Arial"/>
              </a:rPr>
              <a:t>specific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patterns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captured</a:t>
            </a:r>
            <a:endParaRPr sz="1050">
              <a:latin typeface="Arial"/>
              <a:cs typeface="Arial"/>
            </a:endParaRPr>
          </a:p>
          <a:p>
            <a:pPr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 startAt="2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Region </a:t>
            </a:r>
            <a:r>
              <a:rPr dirty="0" sz="1050" spc="-10" b="1">
                <a:latin typeface="Arial"/>
                <a:cs typeface="Arial"/>
              </a:rPr>
              <a:t>(Mandatory)</a:t>
            </a:r>
            <a:endParaRPr sz="1050">
              <a:latin typeface="Arial"/>
              <a:cs typeface="Arial"/>
            </a:endParaRPr>
          </a:p>
          <a:p>
            <a:pPr marL="507365" marR="1440815">
              <a:lnSpc>
                <a:spcPct val="166700"/>
              </a:lnSpc>
            </a:pPr>
            <a:r>
              <a:rPr dirty="0" sz="1050">
                <a:latin typeface="Arial"/>
                <a:cs typeface="Arial"/>
              </a:rPr>
              <a:t>Geographic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distribution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(LN,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PA,</a:t>
            </a:r>
            <a:r>
              <a:rPr dirty="0" sz="1050" spc="-40">
                <a:latin typeface="Arial"/>
                <a:cs typeface="Arial"/>
              </a:rPr>
              <a:t> NY,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etc.) </a:t>
            </a:r>
            <a:r>
              <a:rPr dirty="0" sz="1050">
                <a:latin typeface="Arial"/>
                <a:cs typeface="Arial"/>
              </a:rPr>
              <a:t>Reduces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geographic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bias</a:t>
            </a:r>
            <a:endParaRPr sz="1050">
              <a:latin typeface="Arial"/>
              <a:cs typeface="Arial"/>
            </a:endParaRPr>
          </a:p>
          <a:p>
            <a:pPr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 startAt="3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Product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Type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(Mandatory)</a:t>
            </a:r>
            <a:endParaRPr sz="1050">
              <a:latin typeface="Arial"/>
              <a:cs typeface="Arial"/>
            </a:endParaRPr>
          </a:p>
          <a:p>
            <a:pPr marL="507365" marR="457834">
              <a:lnSpc>
                <a:spcPct val="166700"/>
              </a:lnSpc>
            </a:pPr>
            <a:r>
              <a:rPr dirty="0" sz="1050">
                <a:latin typeface="Arial"/>
                <a:cs typeface="Arial"/>
              </a:rPr>
              <a:t>Business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complexity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(Cash_Bonds,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IRD,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Derivatives,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etc.) </a:t>
            </a:r>
            <a:r>
              <a:rPr dirty="0" sz="1050">
                <a:latin typeface="Arial"/>
                <a:cs typeface="Arial"/>
              </a:rPr>
              <a:t>Reflects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operational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characteristics</a:t>
            </a:r>
            <a:endParaRPr sz="1050">
              <a:latin typeface="Arial"/>
              <a:cs typeface="Arial"/>
            </a:endParaRPr>
          </a:p>
          <a:p>
            <a:pPr marL="258445" marR="1141730" indent="-147320">
              <a:lnSpc>
                <a:spcPct val="166700"/>
              </a:lnSpc>
              <a:buFont typeface="Arial"/>
              <a:buAutoNum type="arabicPeriod" startAt="4"/>
              <a:tabLst>
                <a:tab pos="507365" algn="l"/>
              </a:tabLst>
            </a:pPr>
            <a:r>
              <a:rPr dirty="0" sz="1050" b="1">
                <a:latin typeface="Arial"/>
                <a:cs typeface="Arial"/>
              </a:rPr>
              <a:t>Additional Dimensions </a:t>
            </a:r>
            <a:r>
              <a:rPr dirty="0" sz="1050" spc="-10" b="1">
                <a:latin typeface="Arial"/>
                <a:cs typeface="Arial"/>
              </a:rPr>
              <a:t>(Configurable) </a:t>
            </a:r>
            <a:r>
              <a:rPr dirty="0" sz="1050" spc="-10" b="1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Reason_Code,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Desk_ID,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Aging_Category,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etc. </a:t>
            </a:r>
            <a:r>
              <a:rPr dirty="0" sz="1050" spc="-20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Customizable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specific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objectives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62" y="2781299"/>
            <a:ext cx="6038850" cy="428625"/>
          </a:xfrm>
          <a:custGeom>
            <a:avLst/>
            <a:gdLst/>
            <a:ahLst/>
            <a:cxnLst/>
            <a:rect l="l" t="t" r="r" b="b"/>
            <a:pathLst>
              <a:path w="6038850" h="42862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78" y="19418"/>
                </a:lnTo>
                <a:lnTo>
                  <a:pt x="6019457" y="14084"/>
                </a:lnTo>
                <a:lnTo>
                  <a:pt x="6016752" y="11391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91"/>
                </a:lnTo>
                <a:lnTo>
                  <a:pt x="19456" y="14033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371475"/>
                </a:lnTo>
                <a:lnTo>
                  <a:pt x="0" y="375234"/>
                </a:lnTo>
                <a:lnTo>
                  <a:pt x="0" y="379056"/>
                </a:lnTo>
                <a:lnTo>
                  <a:pt x="1460" y="386346"/>
                </a:lnTo>
                <a:lnTo>
                  <a:pt x="7251" y="400354"/>
                </a:lnTo>
                <a:lnTo>
                  <a:pt x="11391" y="406527"/>
                </a:lnTo>
                <a:lnTo>
                  <a:pt x="16738" y="411886"/>
                </a:lnTo>
                <a:lnTo>
                  <a:pt x="19392" y="414540"/>
                </a:lnTo>
                <a:lnTo>
                  <a:pt x="22098" y="417245"/>
                </a:lnTo>
                <a:lnTo>
                  <a:pt x="28282" y="421386"/>
                </a:lnTo>
                <a:lnTo>
                  <a:pt x="31800" y="422846"/>
                </a:lnTo>
                <a:lnTo>
                  <a:pt x="38747" y="425716"/>
                </a:lnTo>
                <a:lnTo>
                  <a:pt x="42291" y="427177"/>
                </a:lnTo>
                <a:lnTo>
                  <a:pt x="49580" y="428625"/>
                </a:lnTo>
                <a:lnTo>
                  <a:pt x="53403" y="428625"/>
                </a:lnTo>
                <a:lnTo>
                  <a:pt x="5985459" y="428625"/>
                </a:lnTo>
                <a:lnTo>
                  <a:pt x="5989282" y="428625"/>
                </a:lnTo>
                <a:lnTo>
                  <a:pt x="5996571" y="427177"/>
                </a:lnTo>
                <a:lnTo>
                  <a:pt x="6000064" y="425729"/>
                </a:lnTo>
                <a:lnTo>
                  <a:pt x="6003569" y="424281"/>
                </a:lnTo>
                <a:lnTo>
                  <a:pt x="6007036" y="422846"/>
                </a:lnTo>
                <a:lnTo>
                  <a:pt x="6010580" y="421386"/>
                </a:lnTo>
                <a:lnTo>
                  <a:pt x="6016752" y="417245"/>
                </a:lnTo>
                <a:lnTo>
                  <a:pt x="6019457" y="414540"/>
                </a:lnTo>
                <a:lnTo>
                  <a:pt x="6024765" y="409232"/>
                </a:lnTo>
                <a:lnTo>
                  <a:pt x="6027471" y="406527"/>
                </a:lnTo>
                <a:lnTo>
                  <a:pt x="6031598" y="400354"/>
                </a:lnTo>
                <a:lnTo>
                  <a:pt x="6033046" y="396862"/>
                </a:lnTo>
                <a:lnTo>
                  <a:pt x="6035941" y="389877"/>
                </a:lnTo>
                <a:lnTo>
                  <a:pt x="6037402" y="386346"/>
                </a:lnTo>
                <a:lnTo>
                  <a:pt x="6038850" y="379056"/>
                </a:lnTo>
                <a:lnTo>
                  <a:pt x="6038850" y="37523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09724" y="4190998"/>
          <a:ext cx="4629150" cy="1121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/>
                <a:gridCol w="647700"/>
                <a:gridCol w="685800"/>
                <a:gridCol w="809625"/>
                <a:gridCol w="1543050"/>
              </a:tblGrid>
              <a:tr h="27559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Product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Records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8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Pop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Weight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Interpretation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Equities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45,000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24.5%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0.91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Common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scrutiny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Cash_Bonds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38,000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20.7%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0.73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Common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scrutiny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Repo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15,000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8.2%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0.10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Rare</a:t>
                      </a:r>
                      <a:r>
                        <a:rPr dirty="0" sz="8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Lower</a:t>
                      </a:r>
                      <a:r>
                        <a:rPr dirty="0" sz="8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scrutiny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66762" y="6096000"/>
            <a:ext cx="6038850" cy="428625"/>
          </a:xfrm>
          <a:custGeom>
            <a:avLst/>
            <a:gdLst/>
            <a:ahLst/>
            <a:cxnLst/>
            <a:rect l="l" t="t" r="r" b="b"/>
            <a:pathLst>
              <a:path w="6038850" h="42862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78" y="19418"/>
                </a:lnTo>
                <a:lnTo>
                  <a:pt x="6019457" y="14084"/>
                </a:lnTo>
                <a:lnTo>
                  <a:pt x="6016752" y="11391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91"/>
                </a:lnTo>
                <a:lnTo>
                  <a:pt x="19456" y="14033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371475"/>
                </a:lnTo>
                <a:lnTo>
                  <a:pt x="0" y="375234"/>
                </a:lnTo>
                <a:lnTo>
                  <a:pt x="0" y="379056"/>
                </a:lnTo>
                <a:lnTo>
                  <a:pt x="1460" y="386346"/>
                </a:lnTo>
                <a:lnTo>
                  <a:pt x="7251" y="400354"/>
                </a:lnTo>
                <a:lnTo>
                  <a:pt x="11391" y="406527"/>
                </a:lnTo>
                <a:lnTo>
                  <a:pt x="16738" y="411886"/>
                </a:lnTo>
                <a:lnTo>
                  <a:pt x="19392" y="414540"/>
                </a:lnTo>
                <a:lnTo>
                  <a:pt x="38811" y="425742"/>
                </a:lnTo>
                <a:lnTo>
                  <a:pt x="42291" y="427177"/>
                </a:lnTo>
                <a:lnTo>
                  <a:pt x="49580" y="428625"/>
                </a:lnTo>
                <a:lnTo>
                  <a:pt x="53403" y="428625"/>
                </a:lnTo>
                <a:lnTo>
                  <a:pt x="5985459" y="428625"/>
                </a:lnTo>
                <a:lnTo>
                  <a:pt x="5989282" y="428625"/>
                </a:lnTo>
                <a:lnTo>
                  <a:pt x="5996571" y="427177"/>
                </a:lnTo>
                <a:lnTo>
                  <a:pt x="6000039" y="425742"/>
                </a:lnTo>
                <a:lnTo>
                  <a:pt x="6003569" y="424281"/>
                </a:lnTo>
                <a:lnTo>
                  <a:pt x="6010580" y="421373"/>
                </a:lnTo>
                <a:lnTo>
                  <a:pt x="6016752" y="417245"/>
                </a:lnTo>
                <a:lnTo>
                  <a:pt x="6019457" y="414540"/>
                </a:lnTo>
                <a:lnTo>
                  <a:pt x="6024765" y="409232"/>
                </a:lnTo>
                <a:lnTo>
                  <a:pt x="6027471" y="406527"/>
                </a:lnTo>
                <a:lnTo>
                  <a:pt x="6031598" y="400354"/>
                </a:lnTo>
                <a:lnTo>
                  <a:pt x="6033046" y="396862"/>
                </a:lnTo>
                <a:lnTo>
                  <a:pt x="6035941" y="389877"/>
                </a:lnTo>
                <a:lnTo>
                  <a:pt x="6037402" y="386346"/>
                </a:lnTo>
                <a:lnTo>
                  <a:pt x="6038850" y="379056"/>
                </a:lnTo>
                <a:lnTo>
                  <a:pt x="6038850" y="37523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6762" y="8705850"/>
            <a:ext cx="6038850" cy="752475"/>
          </a:xfrm>
          <a:custGeom>
            <a:avLst/>
            <a:gdLst/>
            <a:ahLst/>
            <a:cxnLst/>
            <a:rect l="l" t="t" r="r" b="b"/>
            <a:pathLst>
              <a:path w="6038850" h="75247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78" y="19418"/>
                </a:lnTo>
                <a:lnTo>
                  <a:pt x="6019457" y="14084"/>
                </a:lnTo>
                <a:lnTo>
                  <a:pt x="6016752" y="11391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91"/>
                </a:lnTo>
                <a:lnTo>
                  <a:pt x="19456" y="14033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695325"/>
                </a:lnTo>
                <a:lnTo>
                  <a:pt x="0" y="699084"/>
                </a:lnTo>
                <a:lnTo>
                  <a:pt x="0" y="702906"/>
                </a:lnTo>
                <a:lnTo>
                  <a:pt x="1460" y="710196"/>
                </a:lnTo>
                <a:lnTo>
                  <a:pt x="7251" y="724204"/>
                </a:lnTo>
                <a:lnTo>
                  <a:pt x="11391" y="730377"/>
                </a:lnTo>
                <a:lnTo>
                  <a:pt x="16738" y="735736"/>
                </a:lnTo>
                <a:lnTo>
                  <a:pt x="19392" y="738390"/>
                </a:lnTo>
                <a:lnTo>
                  <a:pt x="22098" y="741095"/>
                </a:lnTo>
                <a:lnTo>
                  <a:pt x="28282" y="745223"/>
                </a:lnTo>
                <a:lnTo>
                  <a:pt x="42291" y="751027"/>
                </a:lnTo>
                <a:lnTo>
                  <a:pt x="49580" y="752475"/>
                </a:lnTo>
                <a:lnTo>
                  <a:pt x="53403" y="752475"/>
                </a:lnTo>
                <a:lnTo>
                  <a:pt x="5985459" y="752475"/>
                </a:lnTo>
                <a:lnTo>
                  <a:pt x="5989282" y="752475"/>
                </a:lnTo>
                <a:lnTo>
                  <a:pt x="5996571" y="751027"/>
                </a:lnTo>
                <a:lnTo>
                  <a:pt x="6000115" y="749554"/>
                </a:lnTo>
                <a:lnTo>
                  <a:pt x="6010580" y="745223"/>
                </a:lnTo>
                <a:lnTo>
                  <a:pt x="6016752" y="741095"/>
                </a:lnTo>
                <a:lnTo>
                  <a:pt x="6019457" y="738390"/>
                </a:lnTo>
                <a:lnTo>
                  <a:pt x="6024765" y="733082"/>
                </a:lnTo>
                <a:lnTo>
                  <a:pt x="6027471" y="730377"/>
                </a:lnTo>
                <a:lnTo>
                  <a:pt x="6031598" y="724204"/>
                </a:lnTo>
                <a:lnTo>
                  <a:pt x="6033046" y="720712"/>
                </a:lnTo>
                <a:lnTo>
                  <a:pt x="6035941" y="713727"/>
                </a:lnTo>
                <a:lnTo>
                  <a:pt x="6037402" y="710196"/>
                </a:lnTo>
                <a:lnTo>
                  <a:pt x="6038850" y="702906"/>
                </a:lnTo>
                <a:lnTo>
                  <a:pt x="6038850" y="69908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4075" y="377825"/>
            <a:ext cx="6051550" cy="3662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Stratum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Definition: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20">
                <a:latin typeface="Arial"/>
                <a:cs typeface="Arial"/>
              </a:rPr>
              <a:t>Total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Possible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N_entities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N_regions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N_products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N_additional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Example: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3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6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8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8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1,152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possible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strata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Actual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Occupied: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~511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(many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combinations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don't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exist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practice)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3.3</a:t>
            </a:r>
            <a:r>
              <a:rPr dirty="0" sz="1150" spc="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Risk</a:t>
            </a:r>
            <a:r>
              <a:rPr dirty="0" sz="1150" spc="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Score</a:t>
            </a:r>
            <a:r>
              <a:rPr dirty="0" sz="1150" spc="5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Calculation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Step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1: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Dimensional</a:t>
            </a:r>
            <a:r>
              <a:rPr dirty="0" sz="1050" spc="-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Risk</a:t>
            </a:r>
            <a:r>
              <a:rPr dirty="0" sz="1050" spc="-10" b="1">
                <a:latin typeface="Arial"/>
                <a:cs typeface="Arial"/>
              </a:rPr>
              <a:t> Weights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each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dimension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value,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calculate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frequency-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weight: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2700" indent="133350">
              <a:lnSpc>
                <a:spcPct val="100000"/>
              </a:lnSpc>
            </a:pPr>
            <a:r>
              <a:rPr dirty="0" sz="900" spc="-10">
                <a:latin typeface="Courier New"/>
                <a:cs typeface="Courier New"/>
              </a:rPr>
              <a:t>Weight(i)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0.1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0.9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(Frequency(i)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-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Frequency_min)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(Frequency_max</a:t>
            </a:r>
            <a:r>
              <a:rPr dirty="0" sz="900" spc="-3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-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Frequency_min)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</a:pPr>
            <a:r>
              <a:rPr dirty="0" sz="1050" b="1">
                <a:latin typeface="Arial"/>
                <a:cs typeface="Arial"/>
              </a:rPr>
              <a:t>Rationale: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Frequency-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assumes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common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occurrences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correlate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operational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stress</a:t>
            </a:r>
            <a:r>
              <a:rPr dirty="0" sz="1050" spc="-25">
                <a:latin typeface="Arial"/>
                <a:cs typeface="Arial"/>
              </a:rPr>
              <a:t> and </a:t>
            </a:r>
            <a:r>
              <a:rPr dirty="0" sz="1050">
                <a:latin typeface="Arial"/>
                <a:cs typeface="Arial"/>
              </a:rPr>
              <a:t>higher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rates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Example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-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Product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Risk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Weights: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1550" y="739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765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792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1550" y="8191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4075" y="5426074"/>
            <a:ext cx="6096635" cy="389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Step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2: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Composite</a:t>
            </a:r>
            <a:r>
              <a:rPr dirty="0" sz="1050" spc="-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Risk</a:t>
            </a:r>
            <a:r>
              <a:rPr dirty="0" sz="1050" spc="-10" b="1">
                <a:latin typeface="Arial"/>
                <a:cs typeface="Arial"/>
              </a:rPr>
              <a:t> Score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Each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record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receives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equal-</a:t>
            </a:r>
            <a:r>
              <a:rPr dirty="0" sz="1050">
                <a:latin typeface="Arial"/>
                <a:cs typeface="Arial"/>
              </a:rPr>
              <a:t>weighted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average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across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dimensions: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</a:pPr>
            <a:r>
              <a:rPr dirty="0" sz="900" spc="-10">
                <a:latin typeface="Courier New"/>
                <a:cs typeface="Courier New"/>
              </a:rPr>
              <a:t>Risk_Score</a:t>
            </a:r>
            <a:r>
              <a:rPr dirty="0" sz="900" spc="-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(Entity_Risk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Region_Risk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Product_Risk</a:t>
            </a:r>
            <a:r>
              <a:rPr dirty="0" sz="900" spc="-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Additional_Risks...)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4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N_dimensi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Range: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0.01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1.0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Interpretation: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0.80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1.00: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HIGH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(immediate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review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priority)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0.50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0.79: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MEDIUM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(standard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review)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0.30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0.49: LOW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 </a:t>
            </a:r>
            <a:r>
              <a:rPr dirty="0" sz="1050" spc="-10">
                <a:latin typeface="Arial"/>
                <a:cs typeface="Arial"/>
              </a:rPr>
              <a:t>(spot-check)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0.01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-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0.29: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VERY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LOW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(defensive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review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only)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Example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Record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Calculation: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latin typeface="Courier New"/>
                <a:cs typeface="Courier New"/>
              </a:rPr>
              <a:t>Record: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EXC-</a:t>
            </a:r>
            <a:r>
              <a:rPr dirty="0" sz="900" spc="-10">
                <a:latin typeface="Courier New"/>
                <a:cs typeface="Courier New"/>
              </a:rPr>
              <a:t>001847</a:t>
            </a:r>
            <a:endParaRPr sz="900">
              <a:latin typeface="Courier New"/>
              <a:cs typeface="Courier New"/>
            </a:endParaRPr>
          </a:p>
          <a:p>
            <a:pPr marL="145415" marR="5080">
              <a:lnSpc>
                <a:spcPct val="118100"/>
              </a:lnSpc>
            </a:pPr>
            <a:r>
              <a:rPr dirty="0" sz="900" spc="-10">
                <a:latin typeface="Courier New"/>
                <a:cs typeface="Courier New"/>
              </a:rPr>
              <a:t>Entity: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HBAP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(0.91)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Region: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LN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(0.85)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Product: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IRD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(0.72)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Reason: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Price_Mismatch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25">
                <a:latin typeface="Courier New"/>
                <a:cs typeface="Courier New"/>
              </a:rPr>
              <a:t>(0 </a:t>
            </a:r>
            <a:r>
              <a:rPr dirty="0" sz="900" spc="-10">
                <a:latin typeface="Courier New"/>
                <a:cs typeface="Courier New"/>
              </a:rPr>
              <a:t>Risk_Score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(0.91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0.85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0.72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0.88)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4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0.84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(HIGH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RISK)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62" y="5486399"/>
            <a:ext cx="6038850" cy="428625"/>
          </a:xfrm>
          <a:custGeom>
            <a:avLst/>
            <a:gdLst/>
            <a:ahLst/>
            <a:cxnLst/>
            <a:rect l="l" t="t" r="r" b="b"/>
            <a:pathLst>
              <a:path w="6038850" h="428625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65" y="19392"/>
                </a:lnTo>
                <a:lnTo>
                  <a:pt x="6019457" y="14084"/>
                </a:lnTo>
                <a:lnTo>
                  <a:pt x="6016752" y="11379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79"/>
                </a:lnTo>
                <a:lnTo>
                  <a:pt x="19405" y="14071"/>
                </a:lnTo>
                <a:lnTo>
                  <a:pt x="16738" y="16738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371475"/>
                </a:lnTo>
                <a:lnTo>
                  <a:pt x="0" y="375234"/>
                </a:lnTo>
                <a:lnTo>
                  <a:pt x="0" y="379056"/>
                </a:lnTo>
                <a:lnTo>
                  <a:pt x="1460" y="386346"/>
                </a:lnTo>
                <a:lnTo>
                  <a:pt x="7251" y="400354"/>
                </a:lnTo>
                <a:lnTo>
                  <a:pt x="11391" y="406527"/>
                </a:lnTo>
                <a:lnTo>
                  <a:pt x="16738" y="411886"/>
                </a:lnTo>
                <a:lnTo>
                  <a:pt x="19392" y="414540"/>
                </a:lnTo>
                <a:lnTo>
                  <a:pt x="22098" y="417245"/>
                </a:lnTo>
                <a:lnTo>
                  <a:pt x="28282" y="421373"/>
                </a:lnTo>
                <a:lnTo>
                  <a:pt x="42291" y="427177"/>
                </a:lnTo>
                <a:lnTo>
                  <a:pt x="49580" y="428625"/>
                </a:lnTo>
                <a:lnTo>
                  <a:pt x="53403" y="428625"/>
                </a:lnTo>
                <a:lnTo>
                  <a:pt x="5985459" y="428625"/>
                </a:lnTo>
                <a:lnTo>
                  <a:pt x="5989282" y="428625"/>
                </a:lnTo>
                <a:lnTo>
                  <a:pt x="5996571" y="427177"/>
                </a:lnTo>
                <a:lnTo>
                  <a:pt x="6000115" y="425704"/>
                </a:lnTo>
                <a:lnTo>
                  <a:pt x="6010580" y="421373"/>
                </a:lnTo>
                <a:lnTo>
                  <a:pt x="6016752" y="417245"/>
                </a:lnTo>
                <a:lnTo>
                  <a:pt x="6019457" y="414540"/>
                </a:lnTo>
                <a:lnTo>
                  <a:pt x="6024765" y="409232"/>
                </a:lnTo>
                <a:lnTo>
                  <a:pt x="6027471" y="406527"/>
                </a:lnTo>
                <a:lnTo>
                  <a:pt x="6031598" y="400354"/>
                </a:lnTo>
                <a:lnTo>
                  <a:pt x="6033046" y="396862"/>
                </a:lnTo>
                <a:lnTo>
                  <a:pt x="6035941" y="389877"/>
                </a:lnTo>
                <a:lnTo>
                  <a:pt x="6037402" y="386346"/>
                </a:lnTo>
                <a:lnTo>
                  <a:pt x="6038850" y="379056"/>
                </a:lnTo>
                <a:lnTo>
                  <a:pt x="6038850" y="37523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1550" y="22383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25050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27717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30384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1550" y="36385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39052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41719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0499" y="4558614"/>
            <a:ext cx="101636" cy="9665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71550" y="71151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1550" y="73818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1550" y="76485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1550" y="79152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4075" y="370681"/>
            <a:ext cx="5359400" cy="9108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30"/>
              </a:spcBef>
              <a:buAutoNum type="arabicPeriod" startAt="4"/>
              <a:tabLst>
                <a:tab pos="179705" algn="l"/>
              </a:tabLst>
            </a:pPr>
            <a:r>
              <a:rPr dirty="0" sz="1150" b="1">
                <a:latin typeface="Arial"/>
                <a:cs typeface="Arial"/>
              </a:rPr>
              <a:t>SAMPLING</a:t>
            </a:r>
            <a:r>
              <a:rPr dirty="0" sz="1150" spc="1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METHODS</a:t>
            </a:r>
            <a:r>
              <a:rPr dirty="0" sz="1150" spc="12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COMPARISON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Arial"/>
              <a:buAutoNum type="arabicPeriod" startAt="4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Method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1: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Traditional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Random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Sampling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Arial"/>
                <a:cs typeface="Arial"/>
              </a:rPr>
              <a:t>Approach: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Systematic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random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selection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within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strata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Allocation: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n_h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(N_h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N)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latin typeface="Arial"/>
                <a:cs typeface="Arial"/>
              </a:rPr>
              <a:t>Advantages: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Simple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transparent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Unbiased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sample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Easy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10">
                <a:latin typeface="Arial"/>
                <a:cs typeface="Arial"/>
              </a:rPr>
              <a:t> explain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Baseline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comparison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spc="-10" b="1">
                <a:latin typeface="Arial"/>
                <a:cs typeface="Arial"/>
              </a:rPr>
              <a:t>Disadvantages: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dirty="0" sz="1050" spc="-254">
                <a:latin typeface="Segoe UI Symbol"/>
                <a:cs typeface="Segoe UI Symbol"/>
              </a:rPr>
              <a:t>❌</a:t>
            </a:r>
            <a:r>
              <a:rPr dirty="0" sz="1050" spc="30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May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miss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small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strata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254">
                <a:latin typeface="Segoe UI Symbol"/>
                <a:cs typeface="Segoe UI Symbol"/>
              </a:rPr>
              <a:t>❌</a:t>
            </a:r>
            <a:r>
              <a:rPr dirty="0" sz="1050" spc="30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No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10">
                <a:latin typeface="Arial"/>
                <a:cs typeface="Arial"/>
              </a:rPr>
              <a:t> prioritization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254">
                <a:latin typeface="Segoe UI Symbol"/>
                <a:cs typeface="Segoe UI Symbol"/>
              </a:rPr>
              <a:t>❌</a:t>
            </a:r>
            <a:r>
              <a:rPr dirty="0" sz="1050" spc="30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Potential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coverage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gaps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926840" algn="l"/>
              </a:tabLst>
            </a:pPr>
            <a:r>
              <a:rPr dirty="0" sz="1150" b="1">
                <a:latin typeface="Arial"/>
                <a:cs typeface="Arial"/>
              </a:rPr>
              <a:t>Method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2: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Risk-Based</a:t>
            </a:r>
            <a:r>
              <a:rPr dirty="0" sz="1150" spc="9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Stratified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(Neyman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Allocation)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sz="1150" spc="-10" b="1">
                <a:latin typeface="Arial"/>
                <a:cs typeface="Arial"/>
              </a:rPr>
              <a:t>RECOMMENDED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Approach: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Allocate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samples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proportional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stratum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weight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(Population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Variance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×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latin typeface="Arial"/>
                <a:cs typeface="Arial"/>
              </a:rPr>
              <a:t>Allocation </a:t>
            </a:r>
            <a:r>
              <a:rPr dirty="0" sz="1050" spc="-10" b="1">
                <a:latin typeface="Arial"/>
                <a:cs typeface="Arial"/>
              </a:rPr>
              <a:t>Formula: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</a:pPr>
            <a:r>
              <a:rPr dirty="0" sz="900">
                <a:latin typeface="Courier New"/>
                <a:cs typeface="Courier New"/>
              </a:rPr>
              <a:t>n_h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(N_h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S_h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R_h)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50">
                <a:latin typeface="Courier New"/>
                <a:cs typeface="Courier New"/>
              </a:rPr>
              <a:t> </a:t>
            </a:r>
            <a:r>
              <a:rPr dirty="0" sz="900">
                <a:latin typeface="Times New Roman"/>
                <a:cs typeface="Times New Roman"/>
              </a:rPr>
              <a:t>Σ</a:t>
            </a:r>
            <a:r>
              <a:rPr dirty="0" sz="900">
                <a:latin typeface="Courier New"/>
                <a:cs typeface="Courier New"/>
              </a:rPr>
              <a:t>(N_i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S_i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R_i)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Where: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N_h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stratum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population,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S_h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score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variance,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R_h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average</a:t>
            </a:r>
            <a:r>
              <a:rPr dirty="0" sz="1050" spc="-20">
                <a:latin typeface="Arial"/>
                <a:cs typeface="Arial"/>
              </a:rPr>
              <a:t> risk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Within-</a:t>
            </a:r>
            <a:r>
              <a:rPr dirty="0" sz="1050" b="1">
                <a:latin typeface="Arial"/>
                <a:cs typeface="Arial"/>
              </a:rPr>
              <a:t>Stratum:</a:t>
            </a:r>
            <a:r>
              <a:rPr dirty="0" sz="1050" spc="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50%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highest-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50%</a:t>
            </a:r>
            <a:r>
              <a:rPr dirty="0" sz="1050" spc="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random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Advantages: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10">
                <a:latin typeface="Arial"/>
                <a:cs typeface="Arial"/>
              </a:rPr>
              <a:t>Neyman-</a:t>
            </a:r>
            <a:r>
              <a:rPr dirty="0" sz="1050">
                <a:latin typeface="Arial"/>
                <a:cs typeface="Arial"/>
              </a:rPr>
              <a:t>optimal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allocation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(minimizes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variance)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prioritization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automatic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Better strata </a:t>
            </a:r>
            <a:r>
              <a:rPr dirty="0" sz="1050" spc="-10">
                <a:latin typeface="Arial"/>
                <a:cs typeface="Arial"/>
              </a:rPr>
              <a:t>coverage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Improved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error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Statistical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Justification: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Neyman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allocation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statistically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optimal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have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heterogeneous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variances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20">
                <a:latin typeface="Arial"/>
                <a:cs typeface="Arial"/>
              </a:rPr>
              <a:t>(Your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data: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high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variance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across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products)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Equal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costs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(Uniform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review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per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record)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Random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within-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selection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10">
                <a:latin typeface="Arial"/>
                <a:cs typeface="Arial"/>
              </a:rPr>
              <a:t>(Implemented)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62" y="2514599"/>
            <a:ext cx="6038850" cy="914400"/>
          </a:xfrm>
          <a:custGeom>
            <a:avLst/>
            <a:gdLst/>
            <a:ahLst/>
            <a:cxnLst/>
            <a:rect l="l" t="t" r="r" b="b"/>
            <a:pathLst>
              <a:path w="6038850" h="914400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65" y="19392"/>
                </a:lnTo>
                <a:lnTo>
                  <a:pt x="6019457" y="14084"/>
                </a:lnTo>
                <a:lnTo>
                  <a:pt x="6016752" y="11379"/>
                </a:lnTo>
                <a:lnTo>
                  <a:pt x="6010580" y="7251"/>
                </a:lnTo>
                <a:lnTo>
                  <a:pt x="6007036" y="5791"/>
                </a:lnTo>
                <a:lnTo>
                  <a:pt x="6003569" y="435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91"/>
                </a:lnTo>
                <a:lnTo>
                  <a:pt x="28282" y="7251"/>
                </a:lnTo>
                <a:lnTo>
                  <a:pt x="22098" y="11379"/>
                </a:lnTo>
                <a:lnTo>
                  <a:pt x="19405" y="14071"/>
                </a:lnTo>
                <a:lnTo>
                  <a:pt x="16738" y="16738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857250"/>
                </a:lnTo>
                <a:lnTo>
                  <a:pt x="0" y="861009"/>
                </a:lnTo>
                <a:lnTo>
                  <a:pt x="0" y="864831"/>
                </a:lnTo>
                <a:lnTo>
                  <a:pt x="1460" y="872121"/>
                </a:lnTo>
                <a:lnTo>
                  <a:pt x="7251" y="886129"/>
                </a:lnTo>
                <a:lnTo>
                  <a:pt x="11391" y="892302"/>
                </a:lnTo>
                <a:lnTo>
                  <a:pt x="16738" y="897661"/>
                </a:lnTo>
                <a:lnTo>
                  <a:pt x="19392" y="900315"/>
                </a:lnTo>
                <a:lnTo>
                  <a:pt x="38811" y="911517"/>
                </a:lnTo>
                <a:lnTo>
                  <a:pt x="42291" y="912952"/>
                </a:lnTo>
                <a:lnTo>
                  <a:pt x="49580" y="914400"/>
                </a:lnTo>
                <a:lnTo>
                  <a:pt x="53403" y="914400"/>
                </a:lnTo>
                <a:lnTo>
                  <a:pt x="5985459" y="914400"/>
                </a:lnTo>
                <a:lnTo>
                  <a:pt x="5989282" y="914400"/>
                </a:lnTo>
                <a:lnTo>
                  <a:pt x="5996571" y="912952"/>
                </a:lnTo>
                <a:lnTo>
                  <a:pt x="6000039" y="911517"/>
                </a:lnTo>
                <a:lnTo>
                  <a:pt x="6003569" y="910056"/>
                </a:lnTo>
                <a:lnTo>
                  <a:pt x="6010580" y="907148"/>
                </a:lnTo>
                <a:lnTo>
                  <a:pt x="6016752" y="903020"/>
                </a:lnTo>
                <a:lnTo>
                  <a:pt x="6019457" y="900315"/>
                </a:lnTo>
                <a:lnTo>
                  <a:pt x="6024765" y="895007"/>
                </a:lnTo>
                <a:lnTo>
                  <a:pt x="6027471" y="892302"/>
                </a:lnTo>
                <a:lnTo>
                  <a:pt x="6031598" y="886129"/>
                </a:lnTo>
                <a:lnTo>
                  <a:pt x="6033046" y="882637"/>
                </a:lnTo>
                <a:lnTo>
                  <a:pt x="6035941" y="875652"/>
                </a:lnTo>
                <a:lnTo>
                  <a:pt x="6037402" y="872121"/>
                </a:lnTo>
                <a:lnTo>
                  <a:pt x="6038850" y="864831"/>
                </a:lnTo>
                <a:lnTo>
                  <a:pt x="6038850" y="861009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47849" y="6667497"/>
          <a:ext cx="4152900" cy="845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0150"/>
                <a:gridCol w="962025"/>
                <a:gridCol w="838200"/>
                <a:gridCol w="1066800"/>
              </a:tblGrid>
              <a:tr h="28511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Method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Strata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Covered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Coverage</a:t>
                      </a:r>
                      <a:r>
                        <a:rPr dirty="0" sz="8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latin typeface="Arial"/>
                          <a:cs typeface="Arial"/>
                        </a:rPr>
                        <a:t>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8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Prioritization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8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Random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40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32.5%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85">
                          <a:latin typeface="Segoe UI Symbol"/>
                          <a:cs typeface="Segoe UI Symbol"/>
                        </a:rPr>
                        <a:t>❌</a:t>
                      </a:r>
                      <a:r>
                        <a:rPr dirty="0" sz="800" spc="-1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Neyman</a:t>
                      </a:r>
                      <a:r>
                        <a:rPr dirty="0" sz="8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Allocation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85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69.1%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00" spc="-110"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dirty="0" sz="800" spc="-25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Yes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EE2E4"/>
                      </a:solidFill>
                      <a:prstDash val="solid"/>
                    </a:lnL>
                    <a:lnR w="9525">
                      <a:solidFill>
                        <a:srgbClr val="DEE2E4"/>
                      </a:solidFill>
                      <a:prstDash val="solid"/>
                    </a:lnR>
                    <a:lnT w="9525">
                      <a:solidFill>
                        <a:srgbClr val="DEE2E4"/>
                      </a:solidFill>
                      <a:prstDash val="solid"/>
                    </a:lnT>
                    <a:lnB w="9525">
                      <a:solidFill>
                        <a:srgbClr val="DEE2E4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66762" y="8686800"/>
            <a:ext cx="6038850" cy="438150"/>
          </a:xfrm>
          <a:custGeom>
            <a:avLst/>
            <a:gdLst/>
            <a:ahLst/>
            <a:cxnLst/>
            <a:rect l="l" t="t" r="r" b="b"/>
            <a:pathLst>
              <a:path w="6038850" h="438150">
                <a:moveTo>
                  <a:pt x="6038850" y="49580"/>
                </a:moveTo>
                <a:lnTo>
                  <a:pt x="6037402" y="42291"/>
                </a:lnTo>
                <a:lnTo>
                  <a:pt x="6035954" y="38823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765" y="19392"/>
                </a:lnTo>
                <a:lnTo>
                  <a:pt x="6019457" y="14084"/>
                </a:lnTo>
                <a:lnTo>
                  <a:pt x="6016752" y="11379"/>
                </a:lnTo>
                <a:lnTo>
                  <a:pt x="6010580" y="7251"/>
                </a:lnTo>
                <a:lnTo>
                  <a:pt x="6007100" y="581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0"/>
                </a:lnTo>
                <a:lnTo>
                  <a:pt x="5985459" y="0"/>
                </a:lnTo>
                <a:lnTo>
                  <a:pt x="53403" y="0"/>
                </a:lnTo>
                <a:lnTo>
                  <a:pt x="49580" y="0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78"/>
                </a:lnTo>
                <a:lnTo>
                  <a:pt x="28282" y="7251"/>
                </a:lnTo>
                <a:lnTo>
                  <a:pt x="22098" y="11379"/>
                </a:lnTo>
                <a:lnTo>
                  <a:pt x="19405" y="14071"/>
                </a:lnTo>
                <a:lnTo>
                  <a:pt x="16738" y="16738"/>
                </a:lnTo>
                <a:lnTo>
                  <a:pt x="14097" y="19392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381000"/>
                </a:lnTo>
                <a:lnTo>
                  <a:pt x="0" y="384759"/>
                </a:lnTo>
                <a:lnTo>
                  <a:pt x="0" y="388581"/>
                </a:lnTo>
                <a:lnTo>
                  <a:pt x="1460" y="395871"/>
                </a:lnTo>
                <a:lnTo>
                  <a:pt x="7251" y="409879"/>
                </a:lnTo>
                <a:lnTo>
                  <a:pt x="11391" y="416052"/>
                </a:lnTo>
                <a:lnTo>
                  <a:pt x="16738" y="421411"/>
                </a:lnTo>
                <a:lnTo>
                  <a:pt x="19392" y="424065"/>
                </a:lnTo>
                <a:lnTo>
                  <a:pt x="22098" y="426770"/>
                </a:lnTo>
                <a:lnTo>
                  <a:pt x="28282" y="430898"/>
                </a:lnTo>
                <a:lnTo>
                  <a:pt x="42291" y="436702"/>
                </a:lnTo>
                <a:lnTo>
                  <a:pt x="49580" y="438150"/>
                </a:lnTo>
                <a:lnTo>
                  <a:pt x="53403" y="438150"/>
                </a:lnTo>
                <a:lnTo>
                  <a:pt x="5985459" y="438150"/>
                </a:lnTo>
                <a:lnTo>
                  <a:pt x="5989282" y="438150"/>
                </a:lnTo>
                <a:lnTo>
                  <a:pt x="5996571" y="436702"/>
                </a:lnTo>
                <a:lnTo>
                  <a:pt x="6000115" y="435229"/>
                </a:lnTo>
                <a:lnTo>
                  <a:pt x="6010580" y="430898"/>
                </a:lnTo>
                <a:lnTo>
                  <a:pt x="6016752" y="426770"/>
                </a:lnTo>
                <a:lnTo>
                  <a:pt x="6019457" y="424065"/>
                </a:lnTo>
                <a:lnTo>
                  <a:pt x="6024765" y="418757"/>
                </a:lnTo>
                <a:lnTo>
                  <a:pt x="6027471" y="416052"/>
                </a:lnTo>
                <a:lnTo>
                  <a:pt x="6031598" y="409879"/>
                </a:lnTo>
                <a:lnTo>
                  <a:pt x="6033046" y="406387"/>
                </a:lnTo>
                <a:lnTo>
                  <a:pt x="6035941" y="399402"/>
                </a:lnTo>
                <a:lnTo>
                  <a:pt x="6037402" y="395871"/>
                </a:lnTo>
                <a:lnTo>
                  <a:pt x="6038850" y="388581"/>
                </a:lnTo>
                <a:lnTo>
                  <a:pt x="6038850" y="384759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4075" y="5218905"/>
            <a:ext cx="3367404" cy="1297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5.</a:t>
            </a:r>
            <a:r>
              <a:rPr dirty="0" sz="1150" spc="10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NEYMAN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ALLOCATION</a:t>
            </a:r>
            <a:r>
              <a:rPr dirty="0" sz="1150" spc="10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VALIDATION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Why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Neyman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Is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Better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Than</a:t>
            </a:r>
            <a:r>
              <a:rPr dirty="0" sz="1150" spc="7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Traditional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Arial"/>
                <a:cs typeface="Arial"/>
              </a:rPr>
              <a:t>Comparative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Example: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Dealing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Column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Stratification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size: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196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records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|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Total </a:t>
            </a:r>
            <a:r>
              <a:rPr dirty="0" sz="1050">
                <a:latin typeface="Arial"/>
                <a:cs typeface="Arial"/>
              </a:rPr>
              <a:t>strata: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123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075" y="7626350"/>
            <a:ext cx="4297045" cy="178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Key</a:t>
            </a:r>
            <a:r>
              <a:rPr dirty="0" sz="1050" spc="-6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Advantage: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size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(196)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→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2.1x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better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coverage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Statistical</a:t>
            </a:r>
            <a:r>
              <a:rPr dirty="0" sz="1150" spc="11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Proof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050">
                <a:latin typeface="Arial"/>
                <a:cs typeface="Arial"/>
              </a:rPr>
              <a:t>Stratified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variance: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tabLst>
                <a:tab pos="812165" algn="l"/>
              </a:tabLst>
            </a:pPr>
            <a:r>
              <a:rPr dirty="0" sz="900">
                <a:latin typeface="Courier New"/>
                <a:cs typeface="Courier New"/>
              </a:rPr>
              <a:t>Var(x_st</a:t>
            </a:r>
            <a:r>
              <a:rPr dirty="0" sz="900" spc="-2280">
                <a:latin typeface="Courier New"/>
                <a:cs typeface="Courier New"/>
              </a:rPr>
              <a:t>)</a:t>
            </a:r>
            <a:r>
              <a:rPr dirty="0" sz="900" spc="-500">
                <a:latin typeface="Courier New"/>
                <a:cs typeface="Courier New"/>
              </a:rPr>
              <a:t>̄</a:t>
            </a:r>
            <a:r>
              <a:rPr dirty="0" sz="900">
                <a:latin typeface="Courier New"/>
                <a:cs typeface="Courier New"/>
              </a:rPr>
              <a:t>	=</a:t>
            </a:r>
            <a:r>
              <a:rPr dirty="0" sz="900" spc="-50">
                <a:latin typeface="Courier New"/>
                <a:cs typeface="Courier New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Σ</a:t>
            </a:r>
            <a:r>
              <a:rPr dirty="0" sz="900" spc="-10">
                <a:latin typeface="Courier New"/>
                <a:cs typeface="Courier New"/>
              </a:rPr>
              <a:t>(N_h/N)²</a:t>
            </a:r>
            <a:r>
              <a:rPr dirty="0" sz="900" spc="-4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(S_h²/n_h)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latin typeface="Arial"/>
                <a:cs typeface="Arial"/>
              </a:rPr>
              <a:t>Variance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minimized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when: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1550" y="14668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17335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20002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1550" y="396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1550" y="4229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1550" y="449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1550" y="47624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4075" y="389731"/>
            <a:ext cx="4946650" cy="44697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Method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3: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Enhanced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Hybrid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(Power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Analysis)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Approach: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Combined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anomaly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detection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random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with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larger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sample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Arial"/>
                <a:cs typeface="Arial"/>
              </a:rPr>
              <a:t>Component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Allocation:</a:t>
            </a:r>
            <a:endParaRPr sz="1050">
              <a:latin typeface="Arial"/>
              <a:cs typeface="Arial"/>
            </a:endParaRPr>
          </a:p>
          <a:p>
            <a:pPr marL="259715" marR="2225040">
              <a:lnSpc>
                <a:spcPct val="166700"/>
              </a:lnSpc>
              <a:spcBef>
                <a:spcPts val="525"/>
              </a:spcBef>
            </a:pPr>
            <a:r>
              <a:rPr dirty="0" sz="1050">
                <a:latin typeface="Arial"/>
                <a:cs typeface="Arial"/>
              </a:rPr>
              <a:t>65%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Risk-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Stratified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(Neyman)</a:t>
            </a:r>
            <a:r>
              <a:rPr dirty="0" sz="1050" spc="50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25%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Anomaly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Detection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(Isolation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Forest) </a:t>
            </a:r>
            <a:r>
              <a:rPr dirty="0" sz="1050">
                <a:latin typeface="Arial"/>
                <a:cs typeface="Arial"/>
              </a:rPr>
              <a:t>10%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Random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supplemental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Power</a:t>
            </a:r>
            <a:r>
              <a:rPr dirty="0" sz="1050" spc="-6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Analysis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Size: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</a:pP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((z_</a:t>
            </a:r>
            <a:r>
              <a:rPr dirty="0" sz="900">
                <a:latin typeface="Times New Roman"/>
                <a:cs typeface="Times New Roman"/>
              </a:rPr>
              <a:t>α</a:t>
            </a:r>
            <a:r>
              <a:rPr dirty="0" sz="900" spc="285">
                <a:latin typeface="Times New Roman"/>
                <a:cs typeface="Times New Roman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z_</a:t>
            </a:r>
            <a:r>
              <a:rPr dirty="0" sz="900">
                <a:latin typeface="Times New Roman"/>
                <a:cs typeface="Times New Roman"/>
              </a:rPr>
              <a:t>β</a:t>
            </a:r>
            <a:r>
              <a:rPr dirty="0" sz="900">
                <a:latin typeface="Courier New"/>
                <a:cs typeface="Courier New"/>
              </a:rPr>
              <a:t>)²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(p×q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+</a:t>
            </a:r>
            <a:r>
              <a:rPr dirty="0" sz="900" spc="-6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p×q))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60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(e²)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Courier New"/>
                <a:cs typeface="Courier New"/>
              </a:rPr>
              <a:t>With: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>
                <a:latin typeface="Times New Roman"/>
                <a:cs typeface="Times New Roman"/>
              </a:rPr>
              <a:t>α</a:t>
            </a:r>
            <a:r>
              <a:rPr dirty="0" sz="900">
                <a:latin typeface="Courier New"/>
                <a:cs typeface="Courier New"/>
              </a:rPr>
              <a:t>=0.05,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>
                <a:latin typeface="Times New Roman"/>
                <a:cs typeface="Times New Roman"/>
              </a:rPr>
              <a:t>β</a:t>
            </a:r>
            <a:r>
              <a:rPr dirty="0" sz="900">
                <a:latin typeface="Courier New"/>
                <a:cs typeface="Courier New"/>
              </a:rPr>
              <a:t>=0.20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(80%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power),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p=0.15,</a:t>
            </a:r>
            <a:r>
              <a:rPr dirty="0" sz="900" spc="-10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e=0.05</a:t>
            </a:r>
            <a:endParaRPr sz="9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latin typeface="Courier New"/>
                <a:cs typeface="Courier New"/>
              </a:rPr>
              <a:t>Result:</a:t>
            </a:r>
            <a:r>
              <a:rPr dirty="0" sz="900" spc="-90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~530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samples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(vs.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196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for</a:t>
            </a:r>
            <a:r>
              <a:rPr dirty="0" sz="900" spc="-8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basic</a:t>
            </a:r>
            <a:r>
              <a:rPr dirty="0" sz="900" spc="-90">
                <a:latin typeface="Courier New"/>
                <a:cs typeface="Courier New"/>
              </a:rPr>
              <a:t> </a:t>
            </a:r>
            <a:r>
              <a:rPr dirty="0" sz="900" spc="-10">
                <a:latin typeface="Courier New"/>
                <a:cs typeface="Courier New"/>
              </a:rPr>
              <a:t>methods)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Advantages: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Highest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detection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power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(80%)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Captures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anomalies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Best </a:t>
            </a:r>
            <a:r>
              <a:rPr dirty="0" sz="1050" spc="-10">
                <a:latin typeface="Arial"/>
                <a:cs typeface="Arial"/>
              </a:rPr>
              <a:t>coverage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Best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critical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reviews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762" y="380999"/>
            <a:ext cx="6038850" cy="429259"/>
          </a:xfrm>
          <a:custGeom>
            <a:avLst/>
            <a:gdLst/>
            <a:ahLst/>
            <a:cxnLst/>
            <a:rect l="l" t="t" r="r" b="b"/>
            <a:pathLst>
              <a:path w="6038850" h="429259">
                <a:moveTo>
                  <a:pt x="6038850" y="49580"/>
                </a:moveTo>
                <a:lnTo>
                  <a:pt x="6037402" y="42291"/>
                </a:lnTo>
                <a:lnTo>
                  <a:pt x="6035967" y="38849"/>
                </a:lnTo>
                <a:lnTo>
                  <a:pt x="6033071" y="31813"/>
                </a:lnTo>
                <a:lnTo>
                  <a:pt x="6031598" y="28282"/>
                </a:lnTo>
                <a:lnTo>
                  <a:pt x="6027471" y="22098"/>
                </a:lnTo>
                <a:lnTo>
                  <a:pt x="6024829" y="19469"/>
                </a:lnTo>
                <a:lnTo>
                  <a:pt x="6019457" y="14084"/>
                </a:lnTo>
                <a:lnTo>
                  <a:pt x="6016752" y="11391"/>
                </a:lnTo>
                <a:lnTo>
                  <a:pt x="6010580" y="7251"/>
                </a:lnTo>
                <a:lnTo>
                  <a:pt x="6007100" y="5816"/>
                </a:lnTo>
                <a:lnTo>
                  <a:pt x="6000115" y="2921"/>
                </a:lnTo>
                <a:lnTo>
                  <a:pt x="5996571" y="1460"/>
                </a:lnTo>
                <a:lnTo>
                  <a:pt x="5989282" y="12"/>
                </a:lnTo>
                <a:lnTo>
                  <a:pt x="5985586" y="12"/>
                </a:lnTo>
                <a:lnTo>
                  <a:pt x="5985459" y="0"/>
                </a:lnTo>
                <a:lnTo>
                  <a:pt x="53403" y="0"/>
                </a:lnTo>
                <a:lnTo>
                  <a:pt x="53263" y="12"/>
                </a:lnTo>
                <a:lnTo>
                  <a:pt x="49580" y="12"/>
                </a:lnTo>
                <a:lnTo>
                  <a:pt x="42291" y="1460"/>
                </a:lnTo>
                <a:lnTo>
                  <a:pt x="38785" y="2921"/>
                </a:lnTo>
                <a:lnTo>
                  <a:pt x="31813" y="5778"/>
                </a:lnTo>
                <a:lnTo>
                  <a:pt x="28282" y="7251"/>
                </a:lnTo>
                <a:lnTo>
                  <a:pt x="22098" y="11391"/>
                </a:lnTo>
                <a:lnTo>
                  <a:pt x="19456" y="14033"/>
                </a:lnTo>
                <a:lnTo>
                  <a:pt x="14097" y="19380"/>
                </a:lnTo>
                <a:lnTo>
                  <a:pt x="11391" y="22098"/>
                </a:lnTo>
                <a:lnTo>
                  <a:pt x="7251" y="28282"/>
                </a:lnTo>
                <a:lnTo>
                  <a:pt x="5791" y="31813"/>
                </a:lnTo>
                <a:lnTo>
                  <a:pt x="2921" y="38747"/>
                </a:lnTo>
                <a:lnTo>
                  <a:pt x="1460" y="42291"/>
                </a:lnTo>
                <a:lnTo>
                  <a:pt x="0" y="49580"/>
                </a:lnTo>
                <a:lnTo>
                  <a:pt x="0" y="53403"/>
                </a:lnTo>
                <a:lnTo>
                  <a:pt x="0" y="371475"/>
                </a:lnTo>
                <a:lnTo>
                  <a:pt x="0" y="375234"/>
                </a:lnTo>
                <a:lnTo>
                  <a:pt x="0" y="379056"/>
                </a:lnTo>
                <a:lnTo>
                  <a:pt x="1460" y="386346"/>
                </a:lnTo>
                <a:lnTo>
                  <a:pt x="7251" y="400354"/>
                </a:lnTo>
                <a:lnTo>
                  <a:pt x="11391" y="406539"/>
                </a:lnTo>
                <a:lnTo>
                  <a:pt x="19392" y="414540"/>
                </a:lnTo>
                <a:lnTo>
                  <a:pt x="22098" y="417245"/>
                </a:lnTo>
                <a:lnTo>
                  <a:pt x="28282" y="421386"/>
                </a:lnTo>
                <a:lnTo>
                  <a:pt x="42291" y="427177"/>
                </a:lnTo>
                <a:lnTo>
                  <a:pt x="49580" y="428637"/>
                </a:lnTo>
                <a:lnTo>
                  <a:pt x="5989282" y="428637"/>
                </a:lnTo>
                <a:lnTo>
                  <a:pt x="5996571" y="427177"/>
                </a:lnTo>
                <a:lnTo>
                  <a:pt x="6010580" y="421386"/>
                </a:lnTo>
                <a:lnTo>
                  <a:pt x="6016752" y="417245"/>
                </a:lnTo>
                <a:lnTo>
                  <a:pt x="6019457" y="414540"/>
                </a:lnTo>
                <a:lnTo>
                  <a:pt x="6024765" y="409232"/>
                </a:lnTo>
                <a:lnTo>
                  <a:pt x="6027471" y="406539"/>
                </a:lnTo>
                <a:lnTo>
                  <a:pt x="6031598" y="400354"/>
                </a:lnTo>
                <a:lnTo>
                  <a:pt x="6033046" y="396862"/>
                </a:lnTo>
                <a:lnTo>
                  <a:pt x="6035941" y="389877"/>
                </a:lnTo>
                <a:lnTo>
                  <a:pt x="6037402" y="386346"/>
                </a:lnTo>
                <a:lnTo>
                  <a:pt x="6038850" y="379056"/>
                </a:lnTo>
                <a:lnTo>
                  <a:pt x="6038850" y="375234"/>
                </a:lnTo>
                <a:lnTo>
                  <a:pt x="6038850" y="53403"/>
                </a:lnTo>
                <a:lnTo>
                  <a:pt x="6038850" y="49580"/>
                </a:lnTo>
                <a:close/>
              </a:path>
            </a:pathLst>
          </a:custGeom>
          <a:solidFill>
            <a:srgbClr val="F7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1550" y="1343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16097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18764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21431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4075" y="508793"/>
            <a:ext cx="3364229" cy="17310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14"/>
              </a:spcBef>
            </a:pPr>
            <a:r>
              <a:rPr dirty="0" sz="900">
                <a:latin typeface="Courier New"/>
                <a:cs typeface="Courier New"/>
              </a:rPr>
              <a:t>n_h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n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=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(N_h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S_h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R_h)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/</a:t>
            </a:r>
            <a:r>
              <a:rPr dirty="0" sz="900" spc="-50">
                <a:latin typeface="Courier New"/>
                <a:cs typeface="Courier New"/>
              </a:rPr>
              <a:t> </a:t>
            </a:r>
            <a:r>
              <a:rPr dirty="0" sz="900">
                <a:latin typeface="Times New Roman"/>
                <a:cs typeface="Times New Roman"/>
              </a:rPr>
              <a:t>Σ</a:t>
            </a:r>
            <a:r>
              <a:rPr dirty="0" sz="900">
                <a:latin typeface="Courier New"/>
                <a:cs typeface="Courier New"/>
              </a:rPr>
              <a:t>(N_i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S_i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>
                <a:latin typeface="Courier New"/>
                <a:cs typeface="Courier New"/>
              </a:rPr>
              <a:t>×</a:t>
            </a:r>
            <a:r>
              <a:rPr dirty="0" sz="900" spc="-55">
                <a:latin typeface="Courier New"/>
                <a:cs typeface="Courier New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R_i)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latin typeface="Arial"/>
                <a:cs typeface="Arial"/>
              </a:rPr>
              <a:t>This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allocation: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Maximizes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information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sample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Minimizes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estimator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variance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Optimal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sampling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Handles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population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heterogeneity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9200" y="373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0" y="400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0" y="453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0" y="48005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0" y="53339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0" y="5600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0" y="6134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0" y="64007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0" y="666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99" y="19049"/>
                </a:moveTo>
                <a:lnTo>
                  <a:pt x="38100" y="21576"/>
                </a:lnTo>
                <a:lnTo>
                  <a:pt x="37616" y="24006"/>
                </a:lnTo>
                <a:lnTo>
                  <a:pt x="36649" y="26340"/>
                </a:lnTo>
                <a:lnTo>
                  <a:pt x="35683" y="28673"/>
                </a:lnTo>
                <a:lnTo>
                  <a:pt x="34306" y="30734"/>
                </a:lnTo>
                <a:lnTo>
                  <a:pt x="32520" y="32520"/>
                </a:lnTo>
                <a:lnTo>
                  <a:pt x="30734" y="34306"/>
                </a:lnTo>
                <a:lnTo>
                  <a:pt x="19049" y="38099"/>
                </a:lnTo>
                <a:lnTo>
                  <a:pt x="16523" y="38099"/>
                </a:lnTo>
                <a:lnTo>
                  <a:pt x="0" y="19049"/>
                </a:lnTo>
                <a:lnTo>
                  <a:pt x="0" y="16523"/>
                </a:lnTo>
                <a:lnTo>
                  <a:pt x="5579" y="5579"/>
                </a:lnTo>
                <a:lnTo>
                  <a:pt x="7365" y="3793"/>
                </a:lnTo>
                <a:lnTo>
                  <a:pt x="9426" y="2416"/>
                </a:lnTo>
                <a:lnTo>
                  <a:pt x="11759" y="1450"/>
                </a:lnTo>
                <a:lnTo>
                  <a:pt x="14093" y="483"/>
                </a:lnTo>
                <a:lnTo>
                  <a:pt x="16523" y="0"/>
                </a:lnTo>
                <a:lnTo>
                  <a:pt x="19049" y="0"/>
                </a:lnTo>
                <a:lnTo>
                  <a:pt x="21576" y="0"/>
                </a:lnTo>
                <a:lnTo>
                  <a:pt x="32520" y="5579"/>
                </a:lnTo>
                <a:lnTo>
                  <a:pt x="34306" y="7365"/>
                </a:lnTo>
                <a:lnTo>
                  <a:pt x="35683" y="9425"/>
                </a:lnTo>
                <a:lnTo>
                  <a:pt x="36649" y="11759"/>
                </a:lnTo>
                <a:lnTo>
                  <a:pt x="37616" y="14093"/>
                </a:lnTo>
                <a:lnTo>
                  <a:pt x="38100" y="16523"/>
                </a:lnTo>
                <a:lnTo>
                  <a:pt x="38099" y="19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71550" y="773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54075" y="2599531"/>
            <a:ext cx="3944620" cy="52317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3990" indent="-161290">
              <a:lnSpc>
                <a:spcPct val="100000"/>
              </a:lnSpc>
              <a:spcBef>
                <a:spcPts val="130"/>
              </a:spcBef>
              <a:buAutoNum type="arabicPeriod" startAt="6"/>
              <a:tabLst>
                <a:tab pos="173990" algn="l"/>
              </a:tabLst>
            </a:pPr>
            <a:r>
              <a:rPr dirty="0" sz="1150" b="1">
                <a:latin typeface="Arial"/>
                <a:cs typeface="Arial"/>
              </a:rPr>
              <a:t>AUDIT</a:t>
            </a:r>
            <a:r>
              <a:rPr dirty="0" sz="1150" spc="8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TRAIL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&amp;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DOCUMENTATION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Arial"/>
              <a:buAutoNum type="arabicPeriod" startAt="6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Sampling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Outputs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(Every</a:t>
            </a:r>
            <a:r>
              <a:rPr dirty="0" sz="1150" spc="9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Run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Generates):</a:t>
            </a:r>
            <a:endParaRPr sz="1150">
              <a:latin typeface="Arial"/>
              <a:cs typeface="Arial"/>
            </a:endParaRPr>
          </a:p>
          <a:p>
            <a:pPr lvl="1" marL="258445" marR="5080" indent="-147320">
              <a:lnSpc>
                <a:spcPct val="166700"/>
              </a:lnSpc>
              <a:spcBef>
                <a:spcPts val="204"/>
              </a:spcBef>
              <a:buFont typeface="Arial"/>
              <a:buAutoNum type="arabicPeriod"/>
              <a:tabLst>
                <a:tab pos="507365" algn="l"/>
              </a:tabLst>
            </a:pPr>
            <a:r>
              <a:rPr dirty="0" sz="1050" b="1">
                <a:latin typeface="Arial"/>
                <a:cs typeface="Arial"/>
              </a:rPr>
              <a:t>Sample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Files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(CSV): </a:t>
            </a:r>
            <a:r>
              <a:rPr dirty="0" sz="1050" spc="-10" b="1">
                <a:latin typeface="Arial"/>
                <a:cs typeface="Arial"/>
              </a:rPr>
              <a:t>	</a:t>
            </a:r>
            <a:r>
              <a:rPr dirty="0" sz="1050" spc="-10">
                <a:latin typeface="Arial"/>
                <a:cs typeface="Arial"/>
              </a:rPr>
              <a:t>omrc_sample_[method]_YYYYMMDD_HHMMSS.csv </a:t>
            </a:r>
            <a:r>
              <a:rPr dirty="0" sz="1050" spc="-10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Includes: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scores,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stratum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identifiers,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selection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priority</a:t>
            </a:r>
            <a:endParaRPr sz="1050">
              <a:latin typeface="Arial"/>
              <a:cs typeface="Arial"/>
            </a:endParaRPr>
          </a:p>
          <a:p>
            <a:pPr lvl="1" marL="258445" marR="1953260" indent="-147320">
              <a:lnSpc>
                <a:spcPct val="166700"/>
              </a:lnSpc>
              <a:buFont typeface="Arial"/>
              <a:buAutoNum type="arabicPeriod"/>
              <a:tabLst>
                <a:tab pos="507365" algn="l"/>
              </a:tabLst>
            </a:pPr>
            <a:r>
              <a:rPr dirty="0" sz="1050" b="1">
                <a:latin typeface="Arial"/>
                <a:cs typeface="Arial"/>
              </a:rPr>
              <a:t>Out-of-Scope Files </a:t>
            </a:r>
            <a:r>
              <a:rPr dirty="0" sz="1050" spc="-10" b="1">
                <a:latin typeface="Arial"/>
                <a:cs typeface="Arial"/>
              </a:rPr>
              <a:t>(CSV): </a:t>
            </a:r>
            <a:r>
              <a:rPr dirty="0" sz="1050" spc="-10" b="1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Records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selected </a:t>
            </a:r>
            <a:r>
              <a:rPr dirty="0" sz="1050" spc="-10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Status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reason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codes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Font typeface="Arial"/>
              <a:buAutoNum type="arabicPeriod"/>
              <a:tabLst>
                <a:tab pos="259079" algn="l"/>
              </a:tabLst>
            </a:pPr>
            <a:r>
              <a:rPr dirty="0" sz="1050" b="1">
                <a:latin typeface="Arial"/>
                <a:cs typeface="Arial"/>
              </a:rPr>
              <a:t>Missed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Strata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Analysis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(CSV):</a:t>
            </a:r>
            <a:endParaRPr sz="1050">
              <a:latin typeface="Arial"/>
              <a:cs typeface="Arial"/>
            </a:endParaRPr>
          </a:p>
          <a:p>
            <a:pPr marL="507365">
              <a:lnSpc>
                <a:spcPct val="100000"/>
              </a:lnSpc>
              <a:spcBef>
                <a:spcPts val="840"/>
              </a:spcBef>
            </a:pPr>
            <a:r>
              <a:rPr dirty="0" sz="1050" spc="-10">
                <a:latin typeface="Arial"/>
                <a:cs typeface="Arial"/>
              </a:rPr>
              <a:t>Zero-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10">
                <a:latin typeface="Arial"/>
                <a:cs typeface="Arial"/>
              </a:rPr>
              <a:t> strata</a:t>
            </a:r>
            <a:endParaRPr sz="1050">
              <a:latin typeface="Arial"/>
              <a:cs typeface="Arial"/>
            </a:endParaRPr>
          </a:p>
          <a:p>
            <a:pPr marL="50736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Populations,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levels,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exclusion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reasons</a:t>
            </a:r>
            <a:endParaRPr sz="1050">
              <a:latin typeface="Arial"/>
              <a:cs typeface="Arial"/>
            </a:endParaRPr>
          </a:p>
          <a:p>
            <a:pPr lvl="1" marL="258445" marR="2157730" indent="-147320">
              <a:lnSpc>
                <a:spcPct val="166700"/>
              </a:lnSpc>
              <a:buFont typeface="Arial"/>
              <a:buAutoNum type="arabicPeriod" startAt="4"/>
              <a:tabLst>
                <a:tab pos="507365" algn="l"/>
              </a:tabLst>
            </a:pPr>
            <a:r>
              <a:rPr dirty="0" sz="1050" b="1">
                <a:latin typeface="Arial"/>
                <a:cs typeface="Arial"/>
              </a:rPr>
              <a:t>Statistical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Report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(TXT): </a:t>
            </a:r>
            <a:r>
              <a:rPr dirty="0" sz="1050" spc="-10" b="1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Population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overview </a:t>
            </a:r>
            <a:r>
              <a:rPr dirty="0" sz="1050" spc="-10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Method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comparison 	Recommendations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" b="1">
                <a:latin typeface="Arial"/>
                <a:cs typeface="Arial"/>
              </a:rPr>
              <a:t>Reproducibility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Deterministic</a:t>
            </a:r>
            <a:r>
              <a:rPr dirty="0" sz="1050" spc="-7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Sampling: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Same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data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parameters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=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Exact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results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1550" y="800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14425" y="7934325"/>
            <a:ext cx="1012825" cy="152400"/>
          </a:xfrm>
          <a:prstGeom prst="rect">
            <a:avLst/>
          </a:prstGeom>
          <a:solidFill>
            <a:srgbClr val="F7F7FA"/>
          </a:solidFill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900" spc="-20">
                <a:latin typeface="Courier New"/>
                <a:cs typeface="Courier New"/>
              </a:rPr>
              <a:t>random_state=42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8898" y="7912100"/>
            <a:ext cx="13601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Arial"/>
                <a:cs typeface="Arial"/>
              </a:rPr>
              <a:t>ensures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reproducibility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71550" y="8267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01725" y="8178800"/>
            <a:ext cx="2434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Arial"/>
                <a:cs typeface="Arial"/>
              </a:rPr>
              <a:t>External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auditor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independently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verify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All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parameters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logged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auditable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1550" y="853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12382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1550" y="1504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17716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20383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27717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1550" y="30384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33051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35718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1550" y="4305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1550" y="457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1550" y="4838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1550" y="51053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4075" y="370681"/>
            <a:ext cx="3164205" cy="9289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30"/>
              </a:spcBef>
              <a:buAutoNum type="arabicPeriod" startAt="7"/>
              <a:tabLst>
                <a:tab pos="179705" algn="l"/>
              </a:tabLst>
            </a:pPr>
            <a:r>
              <a:rPr dirty="0" sz="1150" b="1">
                <a:latin typeface="Arial"/>
                <a:cs typeface="Arial"/>
              </a:rPr>
              <a:t>QUALITY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ASSURANCE</a:t>
            </a:r>
            <a:r>
              <a:rPr dirty="0" sz="1150" spc="1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&amp;</a:t>
            </a:r>
            <a:r>
              <a:rPr dirty="0" sz="1150" spc="12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VALIDATION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Arial"/>
              <a:buAutoNum type="arabicPeriod" startAt="7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Pre-Sampling</a:t>
            </a:r>
            <a:r>
              <a:rPr dirty="0" sz="1150" spc="15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QA:</a:t>
            </a:r>
            <a:endParaRPr sz="11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1045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Data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completeness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check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Outlier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detection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Frequency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distribution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validation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score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distribution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analysis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Post-Sampling</a:t>
            </a:r>
            <a:r>
              <a:rPr dirty="0" sz="1150" spc="165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QA:</a:t>
            </a:r>
            <a:endParaRPr sz="11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112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size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verification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Stratum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coverage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analysis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distribution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comparison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60">
                <a:latin typeface="Segoe UI Symbol"/>
                <a:cs typeface="Segoe UI Symbol"/>
              </a:rPr>
              <a:t> </a:t>
            </a:r>
            <a:r>
              <a:rPr dirty="0" sz="1050" spc="-10">
                <a:latin typeface="Arial"/>
                <a:cs typeface="Arial"/>
              </a:rPr>
              <a:t>Representativeness</a:t>
            </a:r>
            <a:r>
              <a:rPr dirty="0" sz="1050" spc="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testing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latin typeface="Arial"/>
                <a:cs typeface="Arial"/>
              </a:rPr>
              <a:t>Auditor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Verification:</a:t>
            </a:r>
            <a:endParaRPr sz="11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112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Independent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reproduction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source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data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Random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selection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verification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score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calculation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audit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 spc="-175">
                <a:latin typeface="Segoe UI Symbol"/>
                <a:cs typeface="Segoe UI Symbol"/>
              </a:rPr>
              <a:t>✅</a:t>
            </a:r>
            <a:r>
              <a:rPr dirty="0" sz="1050" spc="-45">
                <a:latin typeface="Segoe UI Symbol"/>
                <a:cs typeface="Segoe UI Symbo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trail</a:t>
            </a:r>
            <a:r>
              <a:rPr dirty="0" sz="1050" spc="-10">
                <a:latin typeface="Arial"/>
                <a:cs typeface="Arial"/>
              </a:rPr>
              <a:t> completeness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050">
              <a:latin typeface="Arial"/>
              <a:cs typeface="Arial"/>
            </a:endParaRPr>
          </a:p>
          <a:p>
            <a:pPr marL="173990" indent="-161290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173990" algn="l"/>
              </a:tabLst>
            </a:pPr>
            <a:r>
              <a:rPr dirty="0" sz="1150" b="1">
                <a:latin typeface="Arial"/>
                <a:cs typeface="Arial"/>
              </a:rPr>
              <a:t>AUDITOR</a:t>
            </a:r>
            <a:r>
              <a:rPr dirty="0" sz="1150" spc="114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GUIDANCE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"/>
              <a:buAutoNum type="arabicPeriod" startAt="8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Key</a:t>
            </a:r>
            <a:r>
              <a:rPr dirty="0" sz="1150" spc="9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Questions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Auditors</a:t>
            </a:r>
            <a:r>
              <a:rPr dirty="0" sz="1150" spc="10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Should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Ask: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spc="-10" b="1">
                <a:latin typeface="Arial"/>
                <a:cs typeface="Arial"/>
              </a:rPr>
              <a:t>Methodology: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Were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defined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appropriately?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frequency-</a:t>
            </a:r>
            <a:r>
              <a:rPr dirty="0" sz="1050">
                <a:latin typeface="Arial"/>
                <a:cs typeface="Arial"/>
              </a:rPr>
              <a:t>based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calculation</a:t>
            </a:r>
            <a:r>
              <a:rPr dirty="0" sz="1050" spc="-10">
                <a:latin typeface="Arial"/>
                <a:cs typeface="Arial"/>
              </a:rPr>
              <a:t> appropriate?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Why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Neyman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allocation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vs.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traditional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random?</a:t>
            </a:r>
            <a:endParaRPr sz="1050">
              <a:latin typeface="Arial"/>
              <a:cs typeface="Arial"/>
            </a:endParaRPr>
          </a:p>
          <a:p>
            <a:pPr lvl="1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How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sensitive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results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parameter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changes?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Sample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Quality: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lvl="2" marL="259079" indent="-147320">
              <a:lnSpc>
                <a:spcPct val="100000"/>
              </a:lnSpc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representative?</a:t>
            </a:r>
            <a:endParaRPr sz="1050">
              <a:latin typeface="Arial"/>
              <a:cs typeface="Arial"/>
            </a:endParaRPr>
          </a:p>
          <a:p>
            <a:pPr lvl="2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Are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selection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biases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present?</a:t>
            </a:r>
            <a:endParaRPr sz="1050">
              <a:latin typeface="Arial"/>
              <a:cs typeface="Arial"/>
            </a:endParaRPr>
          </a:p>
          <a:p>
            <a:pPr lvl="2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Stratum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coverage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vs.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population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adequacy?</a:t>
            </a:r>
            <a:endParaRPr sz="1050">
              <a:latin typeface="Arial"/>
              <a:cs typeface="Arial"/>
            </a:endParaRPr>
          </a:p>
          <a:p>
            <a:pPr lvl="2" marL="259079" indent="-14732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59079" algn="l"/>
              </a:tabLst>
            </a:pPr>
            <a:r>
              <a:rPr dirty="0" sz="1050" spc="-10">
                <a:latin typeface="Arial"/>
                <a:cs typeface="Arial"/>
              </a:rPr>
              <a:t>High-</a:t>
            </a:r>
            <a:r>
              <a:rPr dirty="0" sz="1050">
                <a:latin typeface="Arial"/>
                <a:cs typeface="Arial"/>
              </a:rPr>
              <a:t>risk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exception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representation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adequate?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spc="-10" b="1">
                <a:latin typeface="Arial"/>
                <a:cs typeface="Arial"/>
              </a:rPr>
              <a:t>Validation: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lvl="3" marL="259079" indent="-1473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Can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reproduced?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530" y="1370381"/>
            <a:ext cx="128226" cy="11551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1550" y="45910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48577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5457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" y="57245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1550" y="63245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1550" y="6591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1550" y="685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4075" y="377825"/>
            <a:ext cx="4873625" cy="911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 indent="-14732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Is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trail</a:t>
            </a:r>
            <a:r>
              <a:rPr dirty="0" sz="1050" spc="-10">
                <a:latin typeface="Arial"/>
                <a:cs typeface="Arial"/>
              </a:rPr>
              <a:t> complete?</a:t>
            </a:r>
            <a:endParaRPr sz="1050">
              <a:latin typeface="Arial"/>
              <a:cs typeface="Arial"/>
            </a:endParaRPr>
          </a:p>
          <a:p>
            <a:pPr marL="259079" indent="-147320">
              <a:lnSpc>
                <a:spcPct val="100000"/>
              </a:lnSpc>
              <a:spcBef>
                <a:spcPts val="840"/>
              </a:spcBef>
              <a:buAutoNum type="arabicPeriod" startAt="2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Parameters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pre-</a:t>
            </a:r>
            <a:r>
              <a:rPr dirty="0" sz="1050">
                <a:latin typeface="Arial"/>
                <a:cs typeface="Arial"/>
              </a:rPr>
              <a:t>determined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adjusted?</a:t>
            </a:r>
            <a:endParaRPr sz="1050">
              <a:latin typeface="Arial"/>
              <a:cs typeface="Arial"/>
            </a:endParaRPr>
          </a:p>
          <a:p>
            <a:pPr marL="259079" indent="-147320">
              <a:lnSpc>
                <a:spcPct val="100000"/>
              </a:lnSpc>
              <a:spcBef>
                <a:spcPts val="840"/>
              </a:spcBef>
              <a:buAutoNum type="arabicPeriod" startAt="2"/>
              <a:tabLst>
                <a:tab pos="259079" algn="l"/>
              </a:tabLst>
            </a:pPr>
            <a:r>
              <a:rPr dirty="0" sz="1050">
                <a:latin typeface="Arial"/>
                <a:cs typeface="Arial"/>
              </a:rPr>
              <a:t>Comparison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periods?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904240" algn="l"/>
              </a:tabLst>
            </a:pPr>
            <a:r>
              <a:rPr dirty="0" sz="1150" b="1">
                <a:latin typeface="Arial"/>
                <a:cs typeface="Arial"/>
              </a:rPr>
              <a:t>Red</a:t>
            </a:r>
            <a:r>
              <a:rPr dirty="0" sz="1150" spc="6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Flags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sz="1150" spc="-50" b="1"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2700" marR="2346325">
              <a:lnSpc>
                <a:spcPct val="125000"/>
              </a:lnSpc>
              <a:spcBef>
                <a:spcPts val="805"/>
              </a:spcBef>
            </a:pP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Sample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size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differs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calculated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value </a:t>
            </a: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&gt;70%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strata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completely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missed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Risk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scores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heavily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skewed</a:t>
            </a:r>
            <a:endParaRPr sz="1050">
              <a:latin typeface="Arial"/>
              <a:cs typeface="Arial"/>
            </a:endParaRPr>
          </a:p>
          <a:p>
            <a:pPr marL="12700" marR="2069464">
              <a:lnSpc>
                <a:spcPct val="125000"/>
              </a:lnSpc>
            </a:pP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Sample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composition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diverges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from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population </a:t>
            </a: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Mid-</a:t>
            </a:r>
            <a:r>
              <a:rPr dirty="0" sz="1050">
                <a:latin typeface="Arial"/>
                <a:cs typeface="Arial"/>
              </a:rPr>
              <a:t>year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methodology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changes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Incomplete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documentation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-385">
                <a:latin typeface="Arial"/>
                <a:cs typeface="Arial"/>
              </a:rPr>
              <a:t>D</a:t>
            </a:r>
            <a:r>
              <a:rPr dirty="0" sz="1050">
                <a:latin typeface="Arial"/>
                <a:cs typeface="Arial"/>
              </a:rPr>
              <a:t> Cannot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reproduce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source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data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buAutoNum type="arabicPeriod" startAt="9"/>
              <a:tabLst>
                <a:tab pos="179705" algn="l"/>
              </a:tabLst>
            </a:pPr>
            <a:r>
              <a:rPr dirty="0" sz="1150" b="1">
                <a:latin typeface="Arial"/>
                <a:cs typeface="Arial"/>
              </a:rPr>
              <a:t>REGULATORY</a:t>
            </a:r>
            <a:r>
              <a:rPr dirty="0" sz="1150" spc="4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REFERENCES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Arial"/>
              <a:buAutoNum type="arabicPeriod" startAt="9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" b="1">
                <a:latin typeface="Arial"/>
                <a:cs typeface="Arial"/>
              </a:rPr>
              <a:t>Standards: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spc="-30" b="1">
                <a:latin typeface="Arial"/>
                <a:cs typeface="Arial"/>
              </a:rPr>
              <a:t>AICPA</a:t>
            </a:r>
            <a:r>
              <a:rPr dirty="0" sz="1050" spc="-7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AU-</a:t>
            </a:r>
            <a:r>
              <a:rPr dirty="0" sz="1050" b="1">
                <a:latin typeface="Arial"/>
                <a:cs typeface="Arial"/>
              </a:rPr>
              <a:t>C</a:t>
            </a:r>
            <a:r>
              <a:rPr dirty="0" sz="1050" spc="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Section</a:t>
            </a:r>
            <a:r>
              <a:rPr dirty="0" sz="1050" spc="15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530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Sampling</a:t>
            </a: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latin typeface="Arial"/>
                <a:cs typeface="Arial"/>
              </a:rPr>
              <a:t>Materiality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Planning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Performing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Audit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ISA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530</a:t>
            </a:r>
            <a:endParaRPr sz="1050">
              <a:latin typeface="Arial"/>
              <a:cs typeface="Arial"/>
            </a:endParaRPr>
          </a:p>
          <a:p>
            <a:pPr marL="259715" marR="1833245">
              <a:lnSpc>
                <a:spcPct val="166700"/>
              </a:lnSpc>
              <a:spcBef>
                <a:spcPts val="525"/>
              </a:spcBef>
            </a:pP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Other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Means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Selection </a:t>
            </a:r>
            <a:r>
              <a:rPr dirty="0" sz="1050">
                <a:latin typeface="Arial"/>
                <a:cs typeface="Arial"/>
              </a:rPr>
              <a:t>Materiality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Planning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Performing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Audit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Academic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Foundation: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</a:pPr>
            <a:r>
              <a:rPr dirty="0" sz="1050">
                <a:latin typeface="Arial"/>
                <a:cs typeface="Arial"/>
              </a:rPr>
              <a:t>Cochran,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W.G.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(1977).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Techniques.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Wiley.</a:t>
            </a:r>
            <a:endParaRPr sz="1050">
              <a:latin typeface="Arial"/>
              <a:cs typeface="Arial"/>
            </a:endParaRPr>
          </a:p>
          <a:p>
            <a:pPr marL="259715" marR="5080">
              <a:lnSpc>
                <a:spcPct val="166700"/>
              </a:lnSpc>
            </a:pPr>
            <a:r>
              <a:rPr dirty="0" sz="1050">
                <a:latin typeface="Arial"/>
                <a:cs typeface="Arial"/>
              </a:rPr>
              <a:t>Neyman,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J.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(1934).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two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different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aspects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representative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method. </a:t>
            </a:r>
            <a:r>
              <a:rPr dirty="0" sz="1050">
                <a:latin typeface="Arial"/>
                <a:cs typeface="Arial"/>
              </a:rPr>
              <a:t>Thompson,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S.K.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(2012).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Sampling.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Wiley.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50">
              <a:latin typeface="Arial"/>
              <a:cs typeface="Arial"/>
            </a:endParaRPr>
          </a:p>
          <a:p>
            <a:pPr marL="257175" indent="-244475">
              <a:lnSpc>
                <a:spcPct val="100000"/>
              </a:lnSpc>
              <a:buAutoNum type="arabicPeriod" startAt="10"/>
              <a:tabLst>
                <a:tab pos="257175" algn="l"/>
              </a:tabLst>
            </a:pPr>
            <a:r>
              <a:rPr dirty="0" sz="1150" b="1">
                <a:latin typeface="Arial"/>
                <a:cs typeface="Arial"/>
              </a:rPr>
              <a:t>AUDIT</a:t>
            </a:r>
            <a:r>
              <a:rPr dirty="0" sz="1150" spc="1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COMMITTEE</a:t>
            </a:r>
            <a:r>
              <a:rPr dirty="0" sz="1150" spc="1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KEY</a:t>
            </a:r>
            <a:r>
              <a:rPr dirty="0" sz="1150" spc="8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MESSAGES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b="1">
                <a:latin typeface="Arial"/>
                <a:cs typeface="Arial"/>
              </a:rPr>
              <a:t>"Our sampling</a:t>
            </a:r>
            <a:r>
              <a:rPr dirty="0" sz="1050" spc="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methodology complies</a:t>
            </a:r>
            <a:r>
              <a:rPr dirty="0" sz="1050" spc="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with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30" b="1">
                <a:latin typeface="Arial"/>
                <a:cs typeface="Arial"/>
              </a:rPr>
              <a:t>AICPA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AU-</a:t>
            </a:r>
            <a:r>
              <a:rPr dirty="0" sz="1050" b="1">
                <a:latin typeface="Arial"/>
                <a:cs typeface="Arial"/>
              </a:rPr>
              <a:t>C 530</a:t>
            </a:r>
            <a:r>
              <a:rPr dirty="0" sz="1050" spc="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and ISA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spc="-20" b="1">
                <a:latin typeface="Arial"/>
                <a:cs typeface="Arial"/>
              </a:rPr>
              <a:t>530"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b="1">
                <a:latin typeface="Arial"/>
                <a:cs typeface="Arial"/>
              </a:rPr>
              <a:t>"We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use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statistically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rigorous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Neyman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allocation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for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optimal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design"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spc="-10" b="1">
                <a:latin typeface="Arial"/>
                <a:cs typeface="Arial"/>
              </a:rPr>
              <a:t>"Risk-</a:t>
            </a:r>
            <a:r>
              <a:rPr dirty="0" sz="1050" b="1">
                <a:latin typeface="Arial"/>
                <a:cs typeface="Arial"/>
              </a:rPr>
              <a:t>based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approach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automatically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prioritizes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high-risk</a:t>
            </a:r>
            <a:r>
              <a:rPr dirty="0" sz="1050" spc="-10" b="1">
                <a:latin typeface="Arial"/>
                <a:cs typeface="Arial"/>
              </a:rPr>
              <a:t> exceptions"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b="1">
                <a:latin typeface="Arial"/>
                <a:cs typeface="Arial"/>
              </a:rPr>
              <a:t>"Sample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size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calculated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at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95%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confidence,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5%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margin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of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error"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b="1">
                <a:latin typeface="Arial"/>
                <a:cs typeface="Arial"/>
              </a:rPr>
              <a:t>"Complete,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auditable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trail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maintained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for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external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verification"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170">
                <a:latin typeface="Segoe UI Symbol"/>
                <a:cs typeface="Segoe UI Symbol"/>
              </a:rPr>
              <a:t>✅</a:t>
            </a:r>
            <a:r>
              <a:rPr dirty="0" sz="1050" spc="15">
                <a:latin typeface="Segoe UI Symbol"/>
                <a:cs typeface="Segoe UI Symbol"/>
              </a:rPr>
              <a:t> </a:t>
            </a:r>
            <a:r>
              <a:rPr dirty="0" sz="1050" b="1">
                <a:latin typeface="Arial"/>
                <a:cs typeface="Arial"/>
              </a:rPr>
              <a:t>"Methodology is fully reproducible and independently </a:t>
            </a:r>
            <a:r>
              <a:rPr dirty="0" sz="1050" spc="-10" b="1">
                <a:latin typeface="Arial"/>
                <a:cs typeface="Arial"/>
              </a:rPr>
              <a:t>validatable"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1114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1550" y="13811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1550" y="16478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1550" y="19145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19049"/>
                </a:lnTo>
                <a:lnTo>
                  <a:pt x="38099" y="21576"/>
                </a:lnTo>
                <a:lnTo>
                  <a:pt x="24006" y="3761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4075" y="370681"/>
            <a:ext cx="5755640" cy="24599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b="1">
                <a:latin typeface="Arial"/>
                <a:cs typeface="Arial"/>
              </a:rPr>
              <a:t>DOCUMENT</a:t>
            </a:r>
            <a:r>
              <a:rPr dirty="0" sz="1150" spc="2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SIGN-</a:t>
            </a:r>
            <a:r>
              <a:rPr dirty="0" sz="1150" spc="-25" b="1">
                <a:latin typeface="Arial"/>
                <a:cs typeface="Arial"/>
              </a:rPr>
              <a:t>OFF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50" b="1">
                <a:latin typeface="Arial"/>
                <a:cs typeface="Arial"/>
              </a:rPr>
              <a:t>Approval Required </a:t>
            </a:r>
            <a:r>
              <a:rPr dirty="0" sz="1050" spc="-10" b="1">
                <a:latin typeface="Arial"/>
                <a:cs typeface="Arial"/>
              </a:rPr>
              <a:t>From: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tabLst>
                <a:tab pos="2237740" algn="l"/>
                <a:tab pos="3223895" algn="l"/>
              </a:tabLst>
            </a:pPr>
            <a:r>
              <a:rPr dirty="0" sz="1050">
                <a:latin typeface="Arial"/>
                <a:cs typeface="Arial"/>
              </a:rPr>
              <a:t>[ ] Compliance Officer: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050">
                <a:latin typeface="Arial"/>
                <a:cs typeface="Arial"/>
              </a:rPr>
              <a:t>Date: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  <a:tabLst>
                <a:tab pos="2366645" algn="l"/>
                <a:tab pos="3352800" algn="l"/>
              </a:tabLst>
            </a:pPr>
            <a:r>
              <a:rPr dirty="0" sz="1050">
                <a:latin typeface="Arial"/>
                <a:cs typeface="Arial"/>
              </a:rPr>
              <a:t>[ ] </a:t>
            </a:r>
            <a:r>
              <a:rPr dirty="0" sz="1050" spc="-10">
                <a:latin typeface="Arial"/>
                <a:cs typeface="Arial"/>
              </a:rPr>
              <a:t>Chief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 Executive: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050">
                <a:latin typeface="Arial"/>
                <a:cs typeface="Arial"/>
              </a:rPr>
              <a:t>Date: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  <a:tabLst>
                <a:tab pos="2440305" algn="l"/>
                <a:tab pos="3426460" algn="l"/>
              </a:tabLst>
            </a:pPr>
            <a:r>
              <a:rPr dirty="0" sz="1050">
                <a:latin typeface="Arial"/>
                <a:cs typeface="Arial"/>
              </a:rPr>
              <a:t>[ ]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 Committee Chair: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050">
                <a:latin typeface="Arial"/>
                <a:cs typeface="Arial"/>
              </a:rPr>
              <a:t>Date: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840"/>
              </a:spcBef>
              <a:tabLst>
                <a:tab pos="2047875" algn="l"/>
                <a:tab pos="3034030" algn="l"/>
              </a:tabLst>
            </a:pPr>
            <a:r>
              <a:rPr dirty="0" sz="1050">
                <a:latin typeface="Arial"/>
                <a:cs typeface="Arial"/>
              </a:rPr>
              <a:t>[ ] </a:t>
            </a:r>
            <a:r>
              <a:rPr dirty="0" sz="1050" spc="-10">
                <a:latin typeface="Arial"/>
                <a:cs typeface="Arial"/>
              </a:rPr>
              <a:t>External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Auditor: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050">
                <a:latin typeface="Arial"/>
                <a:cs typeface="Arial"/>
              </a:rPr>
              <a:t>Date: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Arial"/>
                <a:cs typeface="Arial"/>
              </a:rPr>
              <a:t>Version: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2.6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|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Date: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November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5,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2025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|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Status: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Ready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Audit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Committee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Presentation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dirty="0" sz="1050" i="1">
                <a:latin typeface="Arial"/>
                <a:cs typeface="Arial"/>
              </a:rPr>
              <a:t>This</a:t>
            </a:r>
            <a:r>
              <a:rPr dirty="0" sz="1050" spc="-40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documentation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is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confidential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and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intended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for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management,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audit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committee</a:t>
            </a:r>
            <a:r>
              <a:rPr dirty="0" sz="1050" spc="-40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members,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spc="-25" i="1">
                <a:latin typeface="Arial"/>
                <a:cs typeface="Arial"/>
              </a:rPr>
              <a:t>and</a:t>
            </a:r>
            <a:r>
              <a:rPr dirty="0" sz="1050" spc="-25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external</a:t>
            </a:r>
            <a:r>
              <a:rPr dirty="0" sz="1050" spc="-40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auditors</a:t>
            </a:r>
            <a:r>
              <a:rPr dirty="0" sz="1050" spc="-35" i="1">
                <a:latin typeface="Arial"/>
                <a:cs typeface="Arial"/>
              </a:rPr>
              <a:t> </a:t>
            </a:r>
            <a:r>
              <a:rPr dirty="0" sz="1050" spc="-20" i="1">
                <a:latin typeface="Arial"/>
                <a:cs typeface="Arial"/>
              </a:rPr>
              <a:t>only.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2025-11-05T12:28:03Z</dcterms:created>
  <dcterms:modified xsi:type="dcterms:W3CDTF">2025-11-05T12:28:03Z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2025-11-05T00:00:00Z</vt:filetime>
  </property>
  <property fmtid="{D5CDD505-2E9C-101B-9397-08002B2CF9AE}" pid="5" name="Producer">
    <vt:lpwstr>Skia/PDF m127</vt:lpwstr>
  </property>
</Properties>
</file>